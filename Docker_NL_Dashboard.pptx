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thick  S A RTC2025BAM144" initials="KR" lastIdx="1" clrIdx="0">
    <p:extLst>
      <p:ext uri="{19B8F6BF-5375-455C-9EA6-DF929625EA0E}">
        <p15:presenceInfo xmlns:p15="http://schemas.microsoft.com/office/powerpoint/2012/main" userId="S::karthicksa.bam25@rathinam.in::f724dee7-6e3b-402c-a54f-110d0c8bd6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4237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3657600" y="640080"/>
            <a:ext cx="1828800" cy="1828800"/>
          </a:xfrm>
          <a:prstGeom prst="ellipse">
            <a:avLst/>
          </a:prstGeom>
          <a:solidFill>
            <a:srgbClr val="028090"/>
          </a:solidFill>
          <a:ln w="38100">
            <a:solidFill>
              <a:srgbClr val="02C39A"/>
            </a:solidFill>
            <a:prstDash val="solid"/>
          </a:ln>
        </p:spPr>
      </p:sp>
      <p:sp>
        <p:nvSpPr>
          <p:cNvPr id="4" name="Text 2"/>
          <p:cNvSpPr/>
          <p:nvPr/>
        </p:nvSpPr>
        <p:spPr>
          <a:xfrm>
            <a:off x="3657600" y="777240"/>
            <a:ext cx="1828800" cy="1554480"/>
          </a:xfrm>
          <a:prstGeom prst="rect">
            <a:avLst/>
          </a:prstGeom>
          <a:noFill/>
          <a:ln/>
        </p:spPr>
        <p:txBody>
          <a:bodyPr wrap="square" rtlCol="0" anchor="ctr"/>
          <a:lstStyle/>
          <a:p>
            <a:pPr marL="0" indent="0" algn="ctr">
              <a:buNone/>
            </a:pPr>
            <a:r>
              <a:rPr lang="en-US" sz="5200" dirty="0">
                <a:solidFill>
                  <a:srgbClr val="000000"/>
                </a:solidFill>
              </a:rPr>
              <a:t>🐳</a:t>
            </a:r>
            <a:endParaRPr lang="en-US" sz="5200" dirty="0"/>
          </a:p>
        </p:txBody>
      </p:sp>
      <p:sp>
        <p:nvSpPr>
          <p:cNvPr id="5" name="Text 3"/>
          <p:cNvSpPr/>
          <p:nvPr/>
        </p:nvSpPr>
        <p:spPr>
          <a:xfrm>
            <a:off x="457200" y="265176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AI Docker NL Health Dashboard</a:t>
            </a:r>
            <a:endParaRPr lang="en-US" sz="3600" dirty="0"/>
          </a:p>
        </p:txBody>
      </p:sp>
      <p:sp>
        <p:nvSpPr>
          <p:cNvPr id="6" name="Text 4"/>
          <p:cNvSpPr/>
          <p:nvPr/>
        </p:nvSpPr>
        <p:spPr>
          <a:xfrm>
            <a:off x="731520" y="3566160"/>
            <a:ext cx="7680960" cy="548640"/>
          </a:xfrm>
          <a:prstGeom prst="rect">
            <a:avLst/>
          </a:prstGeom>
          <a:noFill/>
          <a:ln/>
        </p:spPr>
        <p:txBody>
          <a:bodyPr wrap="square" rtlCol="0" anchor="ctr"/>
          <a:lstStyle/>
          <a:p>
            <a:pPr marL="0" indent="0" algn="ctr">
              <a:buNone/>
            </a:pPr>
            <a:r>
              <a:rPr lang="en-US" sz="1600" dirty="0">
                <a:solidFill>
                  <a:srgbClr val="02C39A"/>
                </a:solidFill>
                <a:latin typeface="Calibri" pitchFamily="34" charset="0"/>
                <a:ea typeface="Calibri" pitchFamily="34" charset="-122"/>
                <a:cs typeface="Calibri" pitchFamily="34" charset="-120"/>
              </a:rPr>
              <a:t>An AI Agent for Container Orchestration and Observability</a:t>
            </a:r>
          </a:p>
          <a:p>
            <a:pPr marL="0" indent="0" algn="ctr">
              <a:buNone/>
            </a:pPr>
            <a:endParaRPr lang="en-US" sz="1600" dirty="0"/>
          </a:p>
        </p:txBody>
      </p:sp>
      <p:sp>
        <p:nvSpPr>
          <p:cNvPr id="7" name="Text 5"/>
          <p:cNvSpPr/>
          <p:nvPr/>
        </p:nvSpPr>
        <p:spPr>
          <a:xfrm>
            <a:off x="731520" y="3886200"/>
            <a:ext cx="7680960" cy="777240"/>
          </a:xfrm>
          <a:prstGeom prst="rect">
            <a:avLst/>
          </a:prstGeom>
          <a:noFill/>
          <a:ln/>
        </p:spPr>
        <p:txBody>
          <a:bodyPr wrap="square" rtlCol="0" anchor="ctr"/>
          <a:lstStyle/>
          <a:p>
            <a:pPr marL="0" indent="0" algn="ctr">
              <a:buNone/>
            </a:pPr>
            <a:r>
              <a:rPr lang="en-US" sz="1400" dirty="0">
                <a:solidFill>
                  <a:schemeClr val="accent5">
                    <a:lumMod val="60000"/>
                    <a:lumOff val="40000"/>
                  </a:schemeClr>
                </a:solidFill>
              </a:rPr>
              <a:t>Presented by</a:t>
            </a:r>
          </a:p>
          <a:p>
            <a:pPr marL="0" indent="0" algn="ctr">
              <a:buNone/>
            </a:pPr>
            <a:endParaRPr lang="en-US" sz="1200" dirty="0">
              <a:solidFill>
                <a:schemeClr val="accent5">
                  <a:lumMod val="60000"/>
                  <a:lumOff val="40000"/>
                </a:schemeClr>
              </a:solidFill>
            </a:endParaRPr>
          </a:p>
          <a:p>
            <a:pPr marL="0" indent="0" algn="ctr">
              <a:buNone/>
            </a:pPr>
            <a:r>
              <a:rPr lang="en-US" sz="2000" dirty="0">
                <a:solidFill>
                  <a:schemeClr val="accent5">
                    <a:lumMod val="60000"/>
                    <a:lumOff val="40000"/>
                  </a:schemeClr>
                </a:solidFill>
              </a:rPr>
              <a:t>Team AURA</a:t>
            </a:r>
            <a:endParaRPr lang="en-US" sz="3200" dirty="0">
              <a:solidFill>
                <a:schemeClr val="accent5">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017CB3-5939-6065-A04D-D4C189C4E732}"/>
              </a:ext>
            </a:extLst>
          </p:cNvPr>
          <p:cNvSpPr txBox="1"/>
          <p:nvPr/>
        </p:nvSpPr>
        <p:spPr>
          <a:xfrm>
            <a:off x="460586" y="289467"/>
            <a:ext cx="8087360" cy="461665"/>
          </a:xfrm>
          <a:prstGeom prst="rect">
            <a:avLst/>
          </a:prstGeom>
          <a:noFill/>
        </p:spPr>
        <p:txBody>
          <a:bodyPr wrap="square" rtlCol="0">
            <a:spAutoFit/>
          </a:bodyPr>
          <a:lstStyle/>
          <a:p>
            <a:r>
              <a:rPr lang="en-IN" sz="2400" b="1" dirty="0"/>
              <a:t>Problem Statement:</a:t>
            </a:r>
          </a:p>
        </p:txBody>
      </p:sp>
      <p:sp>
        <p:nvSpPr>
          <p:cNvPr id="3" name="TextBox 2">
            <a:extLst>
              <a:ext uri="{FF2B5EF4-FFF2-40B4-BE49-F238E27FC236}">
                <a16:creationId xmlns:a16="http://schemas.microsoft.com/office/drawing/2014/main" id="{C625DA8D-DAD6-A543-8EC3-541C3C1494B8}"/>
              </a:ext>
            </a:extLst>
          </p:cNvPr>
          <p:cNvSpPr txBox="1"/>
          <p:nvPr/>
        </p:nvSpPr>
        <p:spPr>
          <a:xfrm>
            <a:off x="1015999" y="1009227"/>
            <a:ext cx="7267787" cy="3970318"/>
          </a:xfrm>
          <a:prstGeom prst="rect">
            <a:avLst/>
          </a:prstGeom>
          <a:noFill/>
        </p:spPr>
        <p:txBody>
          <a:bodyPr wrap="square" rtlCol="0">
            <a:spAutoFit/>
          </a:bodyPr>
          <a:lstStyle/>
          <a:p>
            <a:r>
              <a:rPr lang="en-GB" dirty="0"/>
              <a:t>Modern applications run inside Docker containers, but monitoring and managing these containers requires technical expertise and complex command-line operations. During incidents such as container crashes, restarts, or performance issues, engineers must use specialized Docker commands to diagnose problems. This creates a steep learning curve for beginners, limits accessibility for non-technical users, and slows incident response.</a:t>
            </a:r>
          </a:p>
          <a:p>
            <a:r>
              <a:rPr lang="en-GB" dirty="0"/>
              <a:t>Organizations need an intelligent, user-friendly solution that allows users to interact with Docker environments using natural language commands such as </a:t>
            </a:r>
            <a:r>
              <a:rPr lang="en-GB" i="1" dirty="0"/>
              <a:t>"Show me containers that crashed in the last hour"</a:t>
            </a:r>
            <a:r>
              <a:rPr lang="en-GB" dirty="0"/>
              <a:t> or </a:t>
            </a:r>
            <a:r>
              <a:rPr lang="en-GB" i="1" dirty="0"/>
              <a:t>"Display running containers"</a:t>
            </a:r>
            <a:r>
              <a:rPr lang="en-GB" dirty="0"/>
              <a:t>. The system should provide real-time insights, simplified management, and improved observability without requiring command-line knowledge.</a:t>
            </a:r>
          </a:p>
          <a:p>
            <a:endParaRPr lang="en-IN" dirty="0"/>
          </a:p>
        </p:txBody>
      </p:sp>
    </p:spTree>
    <p:extLst>
      <p:ext uri="{BB962C8B-B14F-4D97-AF65-F5344CB8AC3E}">
        <p14:creationId xmlns:p14="http://schemas.microsoft.com/office/powerpoint/2010/main" val="491827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1B2A4A"/>
                </a:solidFill>
                <a:latin typeface="Calibri" pitchFamily="34" charset="0"/>
                <a:ea typeface="Calibri" pitchFamily="34" charset="-122"/>
                <a:cs typeface="Calibri" pitchFamily="34" charset="-120"/>
              </a:rPr>
              <a:t>Executive Summary</a:t>
            </a:r>
            <a:endParaRPr lang="en-US" sz="32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500" i="1" dirty="0">
                <a:solidFill>
                  <a:srgbClr val="028090"/>
                </a:solidFill>
                <a:latin typeface="Calibri" pitchFamily="34" charset="0"/>
                <a:ea typeface="Calibri" pitchFamily="34" charset="-122"/>
                <a:cs typeface="Calibri" pitchFamily="34" charset="-120"/>
              </a:rPr>
              <a:t>Project at a Glance</a:t>
            </a:r>
            <a:endParaRPr lang="en-US" sz="1500" dirty="0"/>
          </a:p>
        </p:txBody>
      </p:sp>
      <p:sp>
        <p:nvSpPr>
          <p:cNvPr id="4" name="Shape 2"/>
          <p:cNvSpPr/>
          <p:nvPr/>
        </p:nvSpPr>
        <p:spPr>
          <a:xfrm>
            <a:off x="365760" y="1325880"/>
            <a:ext cx="402336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48640" y="1463040"/>
            <a:ext cx="3657600" cy="41148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  Natural Language Interface</a:t>
            </a:r>
            <a:endParaRPr lang="en-US" sz="1400" dirty="0"/>
          </a:p>
        </p:txBody>
      </p:sp>
      <p:sp>
        <p:nvSpPr>
          <p:cNvPr id="6" name="Text 4"/>
          <p:cNvSpPr/>
          <p:nvPr/>
        </p:nvSpPr>
        <p:spPr>
          <a:xfrm>
            <a:off x="548640" y="1856232"/>
            <a:ext cx="3657600" cy="822960"/>
          </a:xfrm>
          <a:prstGeom prst="rect">
            <a:avLst/>
          </a:prstGeom>
          <a:noFill/>
          <a:ln/>
        </p:spPr>
        <p:txBody>
          <a:bodyPr wrap="square" rtlCol="0" anchor="ctr"/>
          <a:lstStyle/>
          <a:p>
            <a:pPr marL="0" indent="0">
              <a:buNone/>
            </a:pPr>
            <a:r>
              <a:rPr lang="en-US" sz="1250" dirty="0">
                <a:solidFill>
                  <a:srgbClr val="4A6080"/>
                </a:solidFill>
                <a:latin typeface="Calibri" pitchFamily="34" charset="0"/>
                <a:ea typeface="Calibri" pitchFamily="34" charset="-122"/>
                <a:cs typeface="Calibri" pitchFamily="34" charset="-120"/>
              </a:rPr>
              <a:t>Control Docker via English prompts with zero syntax errors</a:t>
            </a:r>
            <a:endParaRPr lang="en-US" sz="1250" dirty="0"/>
          </a:p>
        </p:txBody>
      </p:sp>
      <p:sp>
        <p:nvSpPr>
          <p:cNvPr id="7" name="Shape 5"/>
          <p:cNvSpPr/>
          <p:nvPr/>
        </p:nvSpPr>
        <p:spPr>
          <a:xfrm>
            <a:off x="4754880" y="1325880"/>
            <a:ext cx="402336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8" name="Text 6"/>
          <p:cNvSpPr/>
          <p:nvPr/>
        </p:nvSpPr>
        <p:spPr>
          <a:xfrm>
            <a:off x="4937760" y="1463040"/>
            <a:ext cx="3657600" cy="41148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  ReAct Execution Loop</a:t>
            </a:r>
            <a:endParaRPr lang="en-US" sz="1400" dirty="0"/>
          </a:p>
        </p:txBody>
      </p:sp>
      <p:sp>
        <p:nvSpPr>
          <p:cNvPr id="9" name="Text 7"/>
          <p:cNvSpPr/>
          <p:nvPr/>
        </p:nvSpPr>
        <p:spPr>
          <a:xfrm>
            <a:off x="4937760" y="1856232"/>
            <a:ext cx="3657600" cy="822960"/>
          </a:xfrm>
          <a:prstGeom prst="rect">
            <a:avLst/>
          </a:prstGeom>
          <a:noFill/>
          <a:ln/>
        </p:spPr>
        <p:txBody>
          <a:bodyPr wrap="square" rtlCol="0" anchor="ctr"/>
          <a:lstStyle/>
          <a:p>
            <a:pPr marL="0" indent="0">
              <a:buNone/>
            </a:pPr>
            <a:r>
              <a:rPr lang="en-US" sz="1250" dirty="0">
                <a:solidFill>
                  <a:srgbClr val="4A6080"/>
                </a:solidFill>
                <a:latin typeface="Calibri" pitchFamily="34" charset="0"/>
                <a:ea typeface="Calibri" pitchFamily="34" charset="-122"/>
                <a:cs typeface="Calibri" pitchFamily="34" charset="-120"/>
              </a:rPr>
              <a:t>7-step visual processing workflow with audit logging to SQLite</a:t>
            </a:r>
            <a:endParaRPr lang="en-US" sz="1250" dirty="0"/>
          </a:p>
        </p:txBody>
      </p:sp>
      <p:sp>
        <p:nvSpPr>
          <p:cNvPr id="10" name="Shape 8"/>
          <p:cNvSpPr/>
          <p:nvPr/>
        </p:nvSpPr>
        <p:spPr>
          <a:xfrm>
            <a:off x="365760" y="3017520"/>
            <a:ext cx="402336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1" name="Text 9"/>
          <p:cNvSpPr/>
          <p:nvPr/>
        </p:nvSpPr>
        <p:spPr>
          <a:xfrm>
            <a:off x="548640" y="3154680"/>
            <a:ext cx="3657600" cy="41148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  Comprehensive Dashboard</a:t>
            </a:r>
            <a:endParaRPr lang="en-US" sz="1400" dirty="0"/>
          </a:p>
        </p:txBody>
      </p:sp>
      <p:sp>
        <p:nvSpPr>
          <p:cNvPr id="12" name="Text 10"/>
          <p:cNvSpPr/>
          <p:nvPr/>
        </p:nvSpPr>
        <p:spPr>
          <a:xfrm>
            <a:off x="548640" y="3547872"/>
            <a:ext cx="3657600" cy="822960"/>
          </a:xfrm>
          <a:prstGeom prst="rect">
            <a:avLst/>
          </a:prstGeom>
          <a:noFill/>
          <a:ln/>
        </p:spPr>
        <p:txBody>
          <a:bodyPr wrap="square" rtlCol="0" anchor="ctr"/>
          <a:lstStyle/>
          <a:p>
            <a:pPr marL="0" indent="0">
              <a:buNone/>
            </a:pPr>
            <a:r>
              <a:rPr lang="en-US" sz="1250" dirty="0">
                <a:solidFill>
                  <a:srgbClr val="4A6080"/>
                </a:solidFill>
                <a:latin typeface="Calibri" pitchFamily="34" charset="0"/>
                <a:ea typeface="Calibri" pitchFamily="34" charset="-122"/>
                <a:cs typeface="Calibri" pitchFamily="34" charset="-120"/>
              </a:rPr>
              <a:t>Plotly graphics, stats over time, and GitHub API status integration</a:t>
            </a:r>
            <a:endParaRPr lang="en-US" sz="1250" dirty="0"/>
          </a:p>
        </p:txBody>
      </p:sp>
      <p:sp>
        <p:nvSpPr>
          <p:cNvPr id="13" name="Shape 11"/>
          <p:cNvSpPr/>
          <p:nvPr/>
        </p:nvSpPr>
        <p:spPr>
          <a:xfrm>
            <a:off x="4754880" y="3017520"/>
            <a:ext cx="402336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4" name="Text 12"/>
          <p:cNvSpPr/>
          <p:nvPr/>
        </p:nvSpPr>
        <p:spPr>
          <a:xfrm>
            <a:off x="4937760" y="3154680"/>
            <a:ext cx="3657600" cy="41148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  Enterprise Ready</a:t>
            </a:r>
            <a:endParaRPr lang="en-US" sz="1400" dirty="0"/>
          </a:p>
        </p:txBody>
      </p:sp>
      <p:sp>
        <p:nvSpPr>
          <p:cNvPr id="15" name="Text 13"/>
          <p:cNvSpPr/>
          <p:nvPr/>
        </p:nvSpPr>
        <p:spPr>
          <a:xfrm>
            <a:off x="4937760" y="3547872"/>
            <a:ext cx="3657600" cy="822960"/>
          </a:xfrm>
          <a:prstGeom prst="rect">
            <a:avLst/>
          </a:prstGeom>
          <a:noFill/>
          <a:ln/>
        </p:spPr>
        <p:txBody>
          <a:bodyPr wrap="square" rtlCol="0" anchor="ctr"/>
          <a:lstStyle/>
          <a:p>
            <a:pPr marL="0" indent="0">
              <a:buNone/>
            </a:pPr>
            <a:r>
              <a:rPr lang="en-US" sz="1250" dirty="0">
                <a:solidFill>
                  <a:srgbClr val="4A6080"/>
                </a:solidFill>
                <a:latin typeface="Calibri" pitchFamily="34" charset="0"/>
                <a:ea typeface="Calibri" pitchFamily="34" charset="-122"/>
                <a:cs typeface="Calibri" pitchFamily="34" charset="-120"/>
              </a:rPr>
              <a:t>Local LLM via </a:t>
            </a:r>
            <a:r>
              <a:rPr lang="en-US" sz="1250" dirty="0" err="1">
                <a:solidFill>
                  <a:srgbClr val="4A6080"/>
                </a:solidFill>
                <a:latin typeface="Calibri" pitchFamily="34" charset="0"/>
                <a:ea typeface="Calibri" pitchFamily="34" charset="-122"/>
                <a:cs typeface="Calibri" pitchFamily="34" charset="-120"/>
              </a:rPr>
              <a:t>Groq</a:t>
            </a:r>
            <a:r>
              <a:rPr lang="en-US" sz="1250" dirty="0">
                <a:solidFill>
                  <a:srgbClr val="4A6080"/>
                </a:solidFill>
                <a:latin typeface="Calibri" pitchFamily="34" charset="0"/>
                <a:ea typeface="Calibri" pitchFamily="34" charset="-122"/>
                <a:cs typeface="Calibri" pitchFamily="34" charset="-120"/>
              </a:rPr>
              <a:t>, read-only Docker sockets, compact start scripts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1B2A4A"/>
                </a:solidFill>
                <a:latin typeface="Calibri" pitchFamily="34" charset="0"/>
                <a:ea typeface="Calibri" pitchFamily="34" charset="-122"/>
                <a:cs typeface="Calibri" pitchFamily="34" charset="-120"/>
              </a:rPr>
              <a:t>The Problem: Container Complexity</a:t>
            </a:r>
            <a:endParaRPr lang="en-US" sz="30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Why the NL Dashboard is necessary</a:t>
            </a:r>
            <a:endParaRPr lang="en-US" sz="1400" dirty="0"/>
          </a:p>
        </p:txBody>
      </p:sp>
      <p:sp>
        <p:nvSpPr>
          <p:cNvPr id="4" name="Shape 2"/>
          <p:cNvSpPr/>
          <p:nvPr/>
        </p:nvSpPr>
        <p:spPr>
          <a:xfrm>
            <a:off x="365760" y="1261872"/>
            <a:ext cx="4023360" cy="1600200"/>
          </a:xfrm>
          <a:prstGeom prst="roundRect">
            <a:avLst>
              <a:gd name="adj" fmla="val 6857"/>
            </a:avLst>
          </a:prstGeom>
          <a:solidFill>
            <a:srgbClr val="FFFFFF"/>
          </a:solidFill>
          <a:ln w="12700">
            <a:solidFill>
              <a:srgbClr val="E0C8C8"/>
            </a:solidFill>
            <a:prstDash val="solid"/>
          </a:ln>
          <a:effectLst>
            <a:outerShdw blurRad="101600" dist="38100" dir="2700000" algn="bl" rotWithShape="0">
              <a:srgbClr val="000000">
                <a:alpha val="13000"/>
              </a:srgbClr>
            </a:outerShdw>
          </a:effectLst>
        </p:spPr>
      </p:sp>
      <p:sp>
        <p:nvSpPr>
          <p:cNvPr id="5" name="Shape 3"/>
          <p:cNvSpPr/>
          <p:nvPr/>
        </p:nvSpPr>
        <p:spPr>
          <a:xfrm>
            <a:off x="548640" y="1463040"/>
            <a:ext cx="384048" cy="384048"/>
          </a:xfrm>
          <a:prstGeom prst="ellipse">
            <a:avLst/>
          </a:prstGeom>
          <a:solidFill>
            <a:srgbClr val="B85042"/>
          </a:solidFill>
          <a:ln w="12700">
            <a:solidFill>
              <a:srgbClr val="B85042"/>
            </a:solidFill>
            <a:prstDash val="solid"/>
          </a:ln>
        </p:spPr>
      </p:sp>
      <p:sp>
        <p:nvSpPr>
          <p:cNvPr id="6" name="Text 4"/>
          <p:cNvSpPr/>
          <p:nvPr/>
        </p:nvSpPr>
        <p:spPr>
          <a:xfrm>
            <a:off x="548640" y="146304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24128" y="1426464"/>
            <a:ext cx="320040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Command Line Barriers</a:t>
            </a:r>
            <a:endParaRPr lang="en-US" sz="1300" dirty="0"/>
          </a:p>
        </p:txBody>
      </p:sp>
      <p:sp>
        <p:nvSpPr>
          <p:cNvPr id="8" name="Text 6"/>
          <p:cNvSpPr/>
          <p:nvPr/>
        </p:nvSpPr>
        <p:spPr>
          <a:xfrm>
            <a:off x="548640" y="1856232"/>
            <a:ext cx="3657600" cy="868680"/>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Docker CLI requires exact flags and syntax patterns — high learning curve, prone to typos during critical incidents.</a:t>
            </a:r>
            <a:endParaRPr lang="en-US" sz="1150" dirty="0"/>
          </a:p>
        </p:txBody>
      </p:sp>
      <p:sp>
        <p:nvSpPr>
          <p:cNvPr id="9" name="Shape 7"/>
          <p:cNvSpPr/>
          <p:nvPr/>
        </p:nvSpPr>
        <p:spPr>
          <a:xfrm>
            <a:off x="4754880" y="1261872"/>
            <a:ext cx="4023360" cy="1600200"/>
          </a:xfrm>
          <a:prstGeom prst="roundRect">
            <a:avLst>
              <a:gd name="adj" fmla="val 6857"/>
            </a:avLst>
          </a:prstGeom>
          <a:solidFill>
            <a:srgbClr val="FFFFFF"/>
          </a:solidFill>
          <a:ln w="12700">
            <a:solidFill>
              <a:srgbClr val="E0C8C8"/>
            </a:solidFill>
            <a:prstDash val="solid"/>
          </a:ln>
          <a:effectLst>
            <a:outerShdw blurRad="101600" dist="38100" dir="2700000" algn="bl" rotWithShape="0">
              <a:srgbClr val="000000">
                <a:alpha val="13000"/>
              </a:srgbClr>
            </a:outerShdw>
          </a:effectLst>
        </p:spPr>
      </p:sp>
      <p:sp>
        <p:nvSpPr>
          <p:cNvPr id="10" name="Shape 8"/>
          <p:cNvSpPr/>
          <p:nvPr/>
        </p:nvSpPr>
        <p:spPr>
          <a:xfrm>
            <a:off x="4937760" y="1463040"/>
            <a:ext cx="384048" cy="384048"/>
          </a:xfrm>
          <a:prstGeom prst="ellipse">
            <a:avLst/>
          </a:prstGeom>
          <a:solidFill>
            <a:srgbClr val="B85042"/>
          </a:solidFill>
          <a:ln w="12700">
            <a:solidFill>
              <a:srgbClr val="B85042"/>
            </a:solidFill>
            <a:prstDash val="solid"/>
          </a:ln>
        </p:spPr>
      </p:sp>
      <p:sp>
        <p:nvSpPr>
          <p:cNvPr id="11" name="Text 9"/>
          <p:cNvSpPr/>
          <p:nvPr/>
        </p:nvSpPr>
        <p:spPr>
          <a:xfrm>
            <a:off x="4937760" y="146304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413248" y="1426464"/>
            <a:ext cx="320040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Fragmented Observability</a:t>
            </a:r>
            <a:endParaRPr lang="en-US" sz="1300" dirty="0"/>
          </a:p>
        </p:txBody>
      </p:sp>
      <p:sp>
        <p:nvSpPr>
          <p:cNvPr id="13" name="Text 11"/>
          <p:cNvSpPr/>
          <p:nvPr/>
        </p:nvSpPr>
        <p:spPr>
          <a:xfrm>
            <a:off x="4937760" y="1856232"/>
            <a:ext cx="3657600" cy="868680"/>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Metrics, health checks, logs, and audit logs are separated. Correlating crashes with resource spikes is entirely manual.</a:t>
            </a:r>
            <a:endParaRPr lang="en-US" sz="1150" dirty="0"/>
          </a:p>
        </p:txBody>
      </p:sp>
      <p:sp>
        <p:nvSpPr>
          <p:cNvPr id="14" name="Shape 12"/>
          <p:cNvSpPr/>
          <p:nvPr/>
        </p:nvSpPr>
        <p:spPr>
          <a:xfrm>
            <a:off x="365760" y="2999232"/>
            <a:ext cx="4023360" cy="1600200"/>
          </a:xfrm>
          <a:prstGeom prst="roundRect">
            <a:avLst>
              <a:gd name="adj" fmla="val 6857"/>
            </a:avLst>
          </a:prstGeom>
          <a:solidFill>
            <a:srgbClr val="FFFFFF"/>
          </a:solidFill>
          <a:ln w="12700">
            <a:solidFill>
              <a:srgbClr val="E0C8C8"/>
            </a:solidFill>
            <a:prstDash val="solid"/>
          </a:ln>
          <a:effectLst>
            <a:outerShdw blurRad="101600" dist="38100" dir="2700000" algn="bl" rotWithShape="0">
              <a:srgbClr val="000000">
                <a:alpha val="13000"/>
              </a:srgbClr>
            </a:outerShdw>
          </a:effectLst>
        </p:spPr>
      </p:sp>
      <p:sp>
        <p:nvSpPr>
          <p:cNvPr id="15" name="Shape 13"/>
          <p:cNvSpPr/>
          <p:nvPr/>
        </p:nvSpPr>
        <p:spPr>
          <a:xfrm>
            <a:off x="548640" y="3200400"/>
            <a:ext cx="384048" cy="384048"/>
          </a:xfrm>
          <a:prstGeom prst="ellipse">
            <a:avLst/>
          </a:prstGeom>
          <a:solidFill>
            <a:srgbClr val="B85042"/>
          </a:solidFill>
          <a:ln w="12700">
            <a:solidFill>
              <a:srgbClr val="B85042"/>
            </a:solidFill>
            <a:prstDash val="solid"/>
          </a:ln>
        </p:spPr>
      </p:sp>
      <p:sp>
        <p:nvSpPr>
          <p:cNvPr id="16" name="Text 14"/>
          <p:cNvSpPr/>
          <p:nvPr/>
        </p:nvSpPr>
        <p:spPr>
          <a:xfrm>
            <a:off x="548640" y="32004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24128" y="3163824"/>
            <a:ext cx="320040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Slow Incident Response</a:t>
            </a:r>
            <a:endParaRPr lang="en-US" sz="1300" dirty="0"/>
          </a:p>
        </p:txBody>
      </p:sp>
      <p:sp>
        <p:nvSpPr>
          <p:cNvPr id="18" name="Text 16"/>
          <p:cNvSpPr/>
          <p:nvPr/>
        </p:nvSpPr>
        <p:spPr>
          <a:xfrm>
            <a:off x="548640" y="3593592"/>
            <a:ext cx="3657600" cy="868680"/>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Finding what crashed in the last hour requires complex filters. No conversational analysis of container health states.</a:t>
            </a:r>
            <a:endParaRPr lang="en-US" sz="1150" dirty="0"/>
          </a:p>
        </p:txBody>
      </p:sp>
      <p:sp>
        <p:nvSpPr>
          <p:cNvPr id="19" name="Shape 17"/>
          <p:cNvSpPr/>
          <p:nvPr/>
        </p:nvSpPr>
        <p:spPr>
          <a:xfrm>
            <a:off x="4754880" y="2999232"/>
            <a:ext cx="4023360" cy="1600200"/>
          </a:xfrm>
          <a:prstGeom prst="roundRect">
            <a:avLst>
              <a:gd name="adj" fmla="val 6857"/>
            </a:avLst>
          </a:prstGeom>
          <a:solidFill>
            <a:srgbClr val="FFFFFF"/>
          </a:solidFill>
          <a:ln w="12700">
            <a:solidFill>
              <a:srgbClr val="E0C8C8"/>
            </a:solidFill>
            <a:prstDash val="solid"/>
          </a:ln>
          <a:effectLst>
            <a:outerShdw blurRad="101600" dist="38100" dir="2700000" algn="bl" rotWithShape="0">
              <a:srgbClr val="000000">
                <a:alpha val="13000"/>
              </a:srgbClr>
            </a:outerShdw>
          </a:effectLst>
        </p:spPr>
      </p:sp>
      <p:sp>
        <p:nvSpPr>
          <p:cNvPr id="20" name="Shape 18"/>
          <p:cNvSpPr/>
          <p:nvPr/>
        </p:nvSpPr>
        <p:spPr>
          <a:xfrm>
            <a:off x="4937760" y="3200400"/>
            <a:ext cx="384048" cy="384048"/>
          </a:xfrm>
          <a:prstGeom prst="ellipse">
            <a:avLst/>
          </a:prstGeom>
          <a:solidFill>
            <a:srgbClr val="B85042"/>
          </a:solidFill>
          <a:ln w="12700">
            <a:solidFill>
              <a:srgbClr val="B85042"/>
            </a:solidFill>
            <a:prstDash val="solid"/>
          </a:ln>
        </p:spPr>
      </p:sp>
      <p:sp>
        <p:nvSpPr>
          <p:cNvPr id="21" name="Text 19"/>
          <p:cNvSpPr/>
          <p:nvPr/>
        </p:nvSpPr>
        <p:spPr>
          <a:xfrm>
            <a:off x="4937760" y="32004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413248" y="3163824"/>
            <a:ext cx="3200400" cy="384048"/>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Security &amp; Access Exposure</a:t>
            </a:r>
            <a:endParaRPr lang="en-US" sz="1300" dirty="0"/>
          </a:p>
        </p:txBody>
      </p:sp>
      <p:sp>
        <p:nvSpPr>
          <p:cNvPr id="23" name="Text 21"/>
          <p:cNvSpPr/>
          <p:nvPr/>
        </p:nvSpPr>
        <p:spPr>
          <a:xfrm>
            <a:off x="4937760" y="3593592"/>
            <a:ext cx="3657600" cy="868680"/>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Full CLI access raises risk profiles. Hard to audit who ran start/stop/restart commands. No local AI fallbacks.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High-Level System Architecture</a:t>
            </a:r>
            <a:endParaRPr lang="en-US" sz="30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400" i="1" dirty="0">
                <a:solidFill>
                  <a:srgbClr val="02C39A"/>
                </a:solidFill>
                <a:latin typeface="Calibri" pitchFamily="34" charset="0"/>
                <a:ea typeface="Calibri" pitchFamily="34" charset="-122"/>
                <a:cs typeface="Calibri" pitchFamily="34" charset="-120"/>
              </a:rPr>
              <a:t>Clean separation of presentation, business, and resource logic</a:t>
            </a:r>
            <a:endParaRPr lang="en-US" sz="1400" dirty="0"/>
          </a:p>
        </p:txBody>
      </p:sp>
      <p:sp>
        <p:nvSpPr>
          <p:cNvPr id="4" name="Shape 2"/>
          <p:cNvSpPr/>
          <p:nvPr/>
        </p:nvSpPr>
        <p:spPr>
          <a:xfrm>
            <a:off x="457200" y="1280160"/>
            <a:ext cx="8229600" cy="804672"/>
          </a:xfrm>
          <a:prstGeom prst="roundRect">
            <a:avLst>
              <a:gd name="adj" fmla="val 11364"/>
            </a:avLst>
          </a:prstGeom>
          <a:solidFill>
            <a:srgbClr val="028090">
              <a:alpha val="80000"/>
            </a:srgbClr>
          </a:solidFill>
          <a:ln w="25400">
            <a:solidFill>
              <a:srgbClr val="028090"/>
            </a:solidFill>
            <a:prstDash val="solid"/>
          </a:ln>
        </p:spPr>
      </p:sp>
      <p:sp>
        <p:nvSpPr>
          <p:cNvPr id="5" name="Text 3"/>
          <p:cNvSpPr/>
          <p:nvPr/>
        </p:nvSpPr>
        <p:spPr>
          <a:xfrm>
            <a:off x="685800" y="1344168"/>
            <a:ext cx="77724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User Interface Layer (</a:t>
            </a:r>
            <a:r>
              <a:rPr lang="en-US" sz="1350" b="1" dirty="0" err="1">
                <a:solidFill>
                  <a:srgbClr val="FFFFFF"/>
                </a:solidFill>
                <a:latin typeface="Calibri" pitchFamily="34" charset="0"/>
                <a:ea typeface="Calibri" pitchFamily="34" charset="-122"/>
                <a:cs typeface="Calibri" pitchFamily="34" charset="-120"/>
              </a:rPr>
              <a:t>Streamlit</a:t>
            </a: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6" name="Text 4"/>
          <p:cNvSpPr/>
          <p:nvPr/>
        </p:nvSpPr>
        <p:spPr>
          <a:xfrm>
            <a:off x="685800" y="1664208"/>
            <a:ext cx="7772400" cy="347472"/>
          </a:xfrm>
          <a:prstGeom prst="rect">
            <a:avLst/>
          </a:prstGeom>
          <a:noFill/>
          <a:ln/>
        </p:spPr>
        <p:txBody>
          <a:bodyPr wrap="square" rtlCol="0" anchor="ctr"/>
          <a:lstStyle/>
          <a:p>
            <a:pPr marL="0" indent="0">
              <a:buNone/>
            </a:pPr>
            <a:r>
              <a:rPr lang="en-US" sz="1150" dirty="0">
                <a:solidFill>
                  <a:srgbClr val="C9D9E8"/>
                </a:solidFill>
                <a:latin typeface="Calibri" pitchFamily="34" charset="0"/>
                <a:ea typeface="Calibri" pitchFamily="34" charset="-122"/>
                <a:cs typeface="Calibri" pitchFamily="34" charset="-120"/>
              </a:rPr>
              <a:t>app.py controls multi-page routing, stylesheets, Plotly views, and session states.</a:t>
            </a:r>
            <a:endParaRPr lang="en-US" sz="1150" dirty="0"/>
          </a:p>
        </p:txBody>
      </p:sp>
      <p:sp>
        <p:nvSpPr>
          <p:cNvPr id="7" name="Shape 5"/>
          <p:cNvSpPr/>
          <p:nvPr/>
        </p:nvSpPr>
        <p:spPr>
          <a:xfrm>
            <a:off x="457200" y="2194560"/>
            <a:ext cx="8229600" cy="804672"/>
          </a:xfrm>
          <a:prstGeom prst="roundRect">
            <a:avLst>
              <a:gd name="adj" fmla="val 11364"/>
            </a:avLst>
          </a:prstGeom>
          <a:solidFill>
            <a:srgbClr val="02C39A">
              <a:alpha val="80000"/>
            </a:srgbClr>
          </a:solidFill>
          <a:ln w="25400">
            <a:solidFill>
              <a:srgbClr val="02C39A"/>
            </a:solidFill>
            <a:prstDash val="solid"/>
          </a:ln>
        </p:spPr>
      </p:sp>
      <p:sp>
        <p:nvSpPr>
          <p:cNvPr id="8" name="Text 6"/>
          <p:cNvSpPr/>
          <p:nvPr/>
        </p:nvSpPr>
        <p:spPr>
          <a:xfrm>
            <a:off x="685800" y="2258568"/>
            <a:ext cx="77724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Agent Control Layer (ReAct Loop)</a:t>
            </a:r>
            <a:endParaRPr lang="en-US" sz="1350" dirty="0"/>
          </a:p>
        </p:txBody>
      </p:sp>
      <p:sp>
        <p:nvSpPr>
          <p:cNvPr id="9" name="Text 7"/>
          <p:cNvSpPr/>
          <p:nvPr/>
        </p:nvSpPr>
        <p:spPr>
          <a:xfrm>
            <a:off x="685800" y="2578608"/>
            <a:ext cx="7772400" cy="347472"/>
          </a:xfrm>
          <a:prstGeom prst="rect">
            <a:avLst/>
          </a:prstGeom>
          <a:noFill/>
          <a:ln/>
        </p:spPr>
        <p:txBody>
          <a:bodyPr wrap="square" rtlCol="0" anchor="ctr"/>
          <a:lstStyle/>
          <a:p>
            <a:pPr marL="0" indent="0">
              <a:buNone/>
            </a:pPr>
            <a:r>
              <a:rPr lang="en-US" sz="1150" dirty="0">
                <a:solidFill>
                  <a:srgbClr val="C9D9E8"/>
                </a:solidFill>
                <a:latin typeface="Calibri" pitchFamily="34" charset="0"/>
                <a:ea typeface="Calibri" pitchFamily="34" charset="-122"/>
                <a:cs typeface="Calibri" pitchFamily="34" charset="-120"/>
              </a:rPr>
              <a:t>agent.py — ReactAgent and AgentStep orchestrate reasoning translation and tool calls.</a:t>
            </a:r>
            <a:endParaRPr lang="en-US" sz="1150" dirty="0"/>
          </a:p>
        </p:txBody>
      </p:sp>
      <p:sp>
        <p:nvSpPr>
          <p:cNvPr id="10" name="Shape 8"/>
          <p:cNvSpPr/>
          <p:nvPr/>
        </p:nvSpPr>
        <p:spPr>
          <a:xfrm>
            <a:off x="457200" y="3108960"/>
            <a:ext cx="8229600" cy="804672"/>
          </a:xfrm>
          <a:prstGeom prst="roundRect">
            <a:avLst>
              <a:gd name="adj" fmla="val 11364"/>
            </a:avLst>
          </a:prstGeom>
          <a:solidFill>
            <a:srgbClr val="F4A261">
              <a:alpha val="80000"/>
            </a:srgbClr>
          </a:solidFill>
          <a:ln w="25400">
            <a:solidFill>
              <a:srgbClr val="F4A261"/>
            </a:solidFill>
            <a:prstDash val="solid"/>
          </a:ln>
        </p:spPr>
      </p:sp>
      <p:sp>
        <p:nvSpPr>
          <p:cNvPr id="11" name="Text 9"/>
          <p:cNvSpPr/>
          <p:nvPr/>
        </p:nvSpPr>
        <p:spPr>
          <a:xfrm>
            <a:off x="685800" y="3172968"/>
            <a:ext cx="77724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Integrations &amp; Utilities</a:t>
            </a:r>
            <a:endParaRPr lang="en-US" sz="1350" dirty="0"/>
          </a:p>
        </p:txBody>
      </p:sp>
      <p:sp>
        <p:nvSpPr>
          <p:cNvPr id="12" name="Text 10"/>
          <p:cNvSpPr/>
          <p:nvPr/>
        </p:nvSpPr>
        <p:spPr>
          <a:xfrm>
            <a:off x="685800" y="3493008"/>
            <a:ext cx="7772400" cy="347472"/>
          </a:xfrm>
          <a:prstGeom prst="rect">
            <a:avLst/>
          </a:prstGeom>
          <a:noFill/>
          <a:ln/>
        </p:spPr>
        <p:txBody>
          <a:bodyPr wrap="square" rtlCol="0" anchor="ctr"/>
          <a:lstStyle/>
          <a:p>
            <a:pPr marL="0" indent="0">
              <a:buNone/>
            </a:pPr>
            <a:r>
              <a:rPr lang="en-US" sz="1150" dirty="0">
                <a:solidFill>
                  <a:srgbClr val="C9D9E8"/>
                </a:solidFill>
                <a:latin typeface="Calibri" pitchFamily="34" charset="0"/>
                <a:ea typeface="Calibri" pitchFamily="34" charset="-122"/>
                <a:cs typeface="Calibri" pitchFamily="34" charset="-120"/>
              </a:rPr>
              <a:t>llm.py, docker_manager.py, and github_api.py wrap SDKs, API servers, and translation logic.</a:t>
            </a:r>
            <a:endParaRPr lang="en-US" sz="1150" dirty="0"/>
          </a:p>
        </p:txBody>
      </p:sp>
      <p:sp>
        <p:nvSpPr>
          <p:cNvPr id="13" name="Shape 11"/>
          <p:cNvSpPr/>
          <p:nvPr/>
        </p:nvSpPr>
        <p:spPr>
          <a:xfrm>
            <a:off x="457200" y="4023360"/>
            <a:ext cx="8229600" cy="804672"/>
          </a:xfrm>
          <a:prstGeom prst="roundRect">
            <a:avLst>
              <a:gd name="adj" fmla="val 11364"/>
            </a:avLst>
          </a:prstGeom>
          <a:solidFill>
            <a:srgbClr val="4A6080">
              <a:alpha val="80000"/>
            </a:srgbClr>
          </a:solidFill>
          <a:ln w="25400">
            <a:solidFill>
              <a:srgbClr val="4A6080"/>
            </a:solidFill>
            <a:prstDash val="solid"/>
          </a:ln>
        </p:spPr>
      </p:sp>
      <p:sp>
        <p:nvSpPr>
          <p:cNvPr id="14" name="Text 12"/>
          <p:cNvSpPr/>
          <p:nvPr/>
        </p:nvSpPr>
        <p:spPr>
          <a:xfrm>
            <a:off x="685800" y="4087368"/>
            <a:ext cx="77724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Persistence &amp; Engine</a:t>
            </a:r>
            <a:endParaRPr lang="en-US" sz="1350" dirty="0"/>
          </a:p>
        </p:txBody>
      </p:sp>
      <p:sp>
        <p:nvSpPr>
          <p:cNvPr id="15" name="Text 13"/>
          <p:cNvSpPr/>
          <p:nvPr/>
        </p:nvSpPr>
        <p:spPr>
          <a:xfrm>
            <a:off x="685800" y="4407408"/>
            <a:ext cx="7772400" cy="347472"/>
          </a:xfrm>
          <a:prstGeom prst="rect">
            <a:avLst/>
          </a:prstGeom>
          <a:noFill/>
          <a:ln/>
        </p:spPr>
        <p:txBody>
          <a:bodyPr wrap="square" rtlCol="0" anchor="ctr"/>
          <a:lstStyle/>
          <a:p>
            <a:pPr marL="0" indent="0">
              <a:buNone/>
            </a:pPr>
            <a:r>
              <a:rPr lang="en-US" sz="1150" dirty="0">
                <a:solidFill>
                  <a:srgbClr val="C9D9E8"/>
                </a:solidFill>
                <a:latin typeface="Calibri" pitchFamily="34" charset="0"/>
                <a:ea typeface="Calibri" pitchFamily="34" charset="-122"/>
                <a:cs typeface="Calibri" pitchFamily="34" charset="-120"/>
              </a:rPr>
              <a:t>database.py manages SQLite storage. Local Docker Daemon connects via unix socket or Windows named pipe.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1B2A4A"/>
                </a:solidFill>
                <a:latin typeface="Calibri" pitchFamily="34" charset="0"/>
                <a:ea typeface="Calibri" pitchFamily="34" charset="-122"/>
                <a:cs typeface="Calibri" pitchFamily="34" charset="-120"/>
              </a:rPr>
              <a:t>The ReAct Agent Loop</a:t>
            </a:r>
            <a:endParaRPr lang="en-US" sz="30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Reasoning and acting in sync — transparency, debuggability, auditability</a:t>
            </a:r>
            <a:endParaRPr lang="en-US" sz="1400" dirty="0"/>
          </a:p>
        </p:txBody>
      </p:sp>
      <p:sp>
        <p:nvSpPr>
          <p:cNvPr id="4" name="Shape 2"/>
          <p:cNvSpPr/>
          <p:nvPr/>
        </p:nvSpPr>
        <p:spPr>
          <a:xfrm>
            <a:off x="576072" y="1325880"/>
            <a:ext cx="658368" cy="658368"/>
          </a:xfrm>
          <a:prstGeom prst="ellipse">
            <a:avLst/>
          </a:prstGeom>
          <a:solidFill>
            <a:srgbClr val="028090"/>
          </a:solidFill>
          <a:ln w="12700">
            <a:solidFill>
              <a:srgbClr val="028090"/>
            </a:solidFill>
            <a:prstDash val="solid"/>
          </a:ln>
        </p:spPr>
      </p:sp>
      <p:sp>
        <p:nvSpPr>
          <p:cNvPr id="5" name="Text 3"/>
          <p:cNvSpPr/>
          <p:nvPr/>
        </p:nvSpPr>
        <p:spPr>
          <a:xfrm>
            <a:off x="576072"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234440" y="1600200"/>
            <a:ext cx="292608" cy="109728"/>
          </a:xfrm>
          <a:prstGeom prst="rect">
            <a:avLst/>
          </a:prstGeom>
          <a:solidFill>
            <a:srgbClr val="CCCCCC"/>
          </a:solidFill>
          <a:ln w="12700">
            <a:solidFill>
              <a:srgbClr val="CCCCCC"/>
            </a:solidFill>
            <a:prstDash val="solid"/>
          </a:ln>
        </p:spPr>
      </p:sp>
      <p:sp>
        <p:nvSpPr>
          <p:cNvPr id="7" name="Text 5"/>
          <p:cNvSpPr/>
          <p:nvPr/>
        </p:nvSpPr>
        <p:spPr>
          <a:xfrm>
            <a:off x="320040"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Request</a:t>
            </a:r>
            <a:endParaRPr lang="en-US" sz="1150" dirty="0"/>
          </a:p>
        </p:txBody>
      </p:sp>
      <p:sp>
        <p:nvSpPr>
          <p:cNvPr id="8" name="Text 6"/>
          <p:cNvSpPr/>
          <p:nvPr/>
        </p:nvSpPr>
        <p:spPr>
          <a:xfrm>
            <a:off x="320040"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User Input Parse</a:t>
            </a:r>
            <a:endParaRPr lang="en-US" sz="1000" dirty="0"/>
          </a:p>
        </p:txBody>
      </p:sp>
      <p:sp>
        <p:nvSpPr>
          <p:cNvPr id="9" name="Shape 7"/>
          <p:cNvSpPr/>
          <p:nvPr/>
        </p:nvSpPr>
        <p:spPr>
          <a:xfrm>
            <a:off x="1792224" y="1325880"/>
            <a:ext cx="658368" cy="658368"/>
          </a:xfrm>
          <a:prstGeom prst="ellipse">
            <a:avLst/>
          </a:prstGeom>
          <a:solidFill>
            <a:srgbClr val="028090"/>
          </a:solidFill>
          <a:ln w="12700">
            <a:solidFill>
              <a:srgbClr val="028090"/>
            </a:solidFill>
            <a:prstDash val="solid"/>
          </a:ln>
        </p:spPr>
      </p:sp>
      <p:sp>
        <p:nvSpPr>
          <p:cNvPr id="10" name="Text 8"/>
          <p:cNvSpPr/>
          <p:nvPr/>
        </p:nvSpPr>
        <p:spPr>
          <a:xfrm>
            <a:off x="1792224"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Shape 9"/>
          <p:cNvSpPr/>
          <p:nvPr/>
        </p:nvSpPr>
        <p:spPr>
          <a:xfrm>
            <a:off x="2450592" y="1600200"/>
            <a:ext cx="292608" cy="109728"/>
          </a:xfrm>
          <a:prstGeom prst="rect">
            <a:avLst/>
          </a:prstGeom>
          <a:solidFill>
            <a:srgbClr val="CCCCCC"/>
          </a:solidFill>
          <a:ln w="12700">
            <a:solidFill>
              <a:srgbClr val="CCCCCC"/>
            </a:solidFill>
            <a:prstDash val="solid"/>
          </a:ln>
        </p:spPr>
      </p:sp>
      <p:sp>
        <p:nvSpPr>
          <p:cNvPr id="12" name="Text 10"/>
          <p:cNvSpPr/>
          <p:nvPr/>
        </p:nvSpPr>
        <p:spPr>
          <a:xfrm>
            <a:off x="1536192"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Analyze</a:t>
            </a:r>
            <a:endParaRPr lang="en-US" sz="1150" dirty="0"/>
          </a:p>
        </p:txBody>
      </p:sp>
      <p:sp>
        <p:nvSpPr>
          <p:cNvPr id="13" name="Text 11"/>
          <p:cNvSpPr/>
          <p:nvPr/>
        </p:nvSpPr>
        <p:spPr>
          <a:xfrm>
            <a:off x="1536192"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LLM to JSON</a:t>
            </a:r>
            <a:endParaRPr lang="en-US" sz="1000" dirty="0"/>
          </a:p>
        </p:txBody>
      </p:sp>
      <p:sp>
        <p:nvSpPr>
          <p:cNvPr id="14" name="Shape 12"/>
          <p:cNvSpPr/>
          <p:nvPr/>
        </p:nvSpPr>
        <p:spPr>
          <a:xfrm>
            <a:off x="3008376" y="1325880"/>
            <a:ext cx="658368" cy="658368"/>
          </a:xfrm>
          <a:prstGeom prst="ellipse">
            <a:avLst/>
          </a:prstGeom>
          <a:solidFill>
            <a:srgbClr val="02C39A"/>
          </a:solidFill>
          <a:ln w="12700">
            <a:solidFill>
              <a:srgbClr val="02C39A"/>
            </a:solidFill>
            <a:prstDash val="solid"/>
          </a:ln>
        </p:spPr>
      </p:sp>
      <p:sp>
        <p:nvSpPr>
          <p:cNvPr id="15" name="Text 13"/>
          <p:cNvSpPr/>
          <p:nvPr/>
        </p:nvSpPr>
        <p:spPr>
          <a:xfrm>
            <a:off x="3008376"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3666744" y="1600200"/>
            <a:ext cx="292608" cy="109728"/>
          </a:xfrm>
          <a:prstGeom prst="rect">
            <a:avLst/>
          </a:prstGeom>
          <a:solidFill>
            <a:srgbClr val="CCCCCC"/>
          </a:solidFill>
          <a:ln w="12700">
            <a:solidFill>
              <a:srgbClr val="CCCCCC"/>
            </a:solidFill>
            <a:prstDash val="solid"/>
          </a:ln>
        </p:spPr>
      </p:sp>
      <p:sp>
        <p:nvSpPr>
          <p:cNvPr id="17" name="Text 15"/>
          <p:cNvSpPr/>
          <p:nvPr/>
        </p:nvSpPr>
        <p:spPr>
          <a:xfrm>
            <a:off x="2752344"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Select Tool</a:t>
            </a:r>
            <a:endParaRPr lang="en-US" sz="1150" dirty="0"/>
          </a:p>
        </p:txBody>
      </p:sp>
      <p:sp>
        <p:nvSpPr>
          <p:cNvPr id="18" name="Text 16"/>
          <p:cNvSpPr/>
          <p:nvPr/>
        </p:nvSpPr>
        <p:spPr>
          <a:xfrm>
            <a:off x="2752344"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Extract Action</a:t>
            </a:r>
            <a:endParaRPr lang="en-US" sz="1000" dirty="0"/>
          </a:p>
        </p:txBody>
      </p:sp>
      <p:sp>
        <p:nvSpPr>
          <p:cNvPr id="19" name="Shape 17"/>
          <p:cNvSpPr/>
          <p:nvPr/>
        </p:nvSpPr>
        <p:spPr>
          <a:xfrm>
            <a:off x="4224528" y="1325880"/>
            <a:ext cx="658368" cy="658368"/>
          </a:xfrm>
          <a:prstGeom prst="ellipse">
            <a:avLst/>
          </a:prstGeom>
          <a:solidFill>
            <a:srgbClr val="02C39A"/>
          </a:solidFill>
          <a:ln w="12700">
            <a:solidFill>
              <a:srgbClr val="02C39A"/>
            </a:solidFill>
            <a:prstDash val="solid"/>
          </a:ln>
        </p:spPr>
      </p:sp>
      <p:sp>
        <p:nvSpPr>
          <p:cNvPr id="20" name="Text 18"/>
          <p:cNvSpPr/>
          <p:nvPr/>
        </p:nvSpPr>
        <p:spPr>
          <a:xfrm>
            <a:off x="4224528"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Shape 19"/>
          <p:cNvSpPr/>
          <p:nvPr/>
        </p:nvSpPr>
        <p:spPr>
          <a:xfrm>
            <a:off x="4882896" y="1600200"/>
            <a:ext cx="292608" cy="109728"/>
          </a:xfrm>
          <a:prstGeom prst="rect">
            <a:avLst/>
          </a:prstGeom>
          <a:solidFill>
            <a:srgbClr val="CCCCCC"/>
          </a:solidFill>
          <a:ln w="12700">
            <a:solidFill>
              <a:srgbClr val="CCCCCC"/>
            </a:solidFill>
            <a:prstDash val="solid"/>
          </a:ln>
        </p:spPr>
      </p:sp>
      <p:sp>
        <p:nvSpPr>
          <p:cNvPr id="22" name="Text 20"/>
          <p:cNvSpPr/>
          <p:nvPr/>
        </p:nvSpPr>
        <p:spPr>
          <a:xfrm>
            <a:off x="3968496"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Execute</a:t>
            </a:r>
            <a:endParaRPr lang="en-US" sz="1150" dirty="0"/>
          </a:p>
        </p:txBody>
      </p:sp>
      <p:sp>
        <p:nvSpPr>
          <p:cNvPr id="23" name="Text 21"/>
          <p:cNvSpPr/>
          <p:nvPr/>
        </p:nvSpPr>
        <p:spPr>
          <a:xfrm>
            <a:off x="3968496"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Docker API</a:t>
            </a:r>
            <a:endParaRPr lang="en-US" sz="1000" dirty="0"/>
          </a:p>
        </p:txBody>
      </p:sp>
      <p:sp>
        <p:nvSpPr>
          <p:cNvPr id="24" name="Shape 22"/>
          <p:cNvSpPr/>
          <p:nvPr/>
        </p:nvSpPr>
        <p:spPr>
          <a:xfrm>
            <a:off x="5440680" y="1325880"/>
            <a:ext cx="658368" cy="658368"/>
          </a:xfrm>
          <a:prstGeom prst="ellipse">
            <a:avLst/>
          </a:prstGeom>
          <a:solidFill>
            <a:srgbClr val="F4A261"/>
          </a:solidFill>
          <a:ln w="12700">
            <a:solidFill>
              <a:srgbClr val="F4A261"/>
            </a:solidFill>
            <a:prstDash val="solid"/>
          </a:ln>
        </p:spPr>
      </p:sp>
      <p:sp>
        <p:nvSpPr>
          <p:cNvPr id="25" name="Text 23"/>
          <p:cNvSpPr/>
          <p:nvPr/>
        </p:nvSpPr>
        <p:spPr>
          <a:xfrm>
            <a:off x="5440680"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Shape 24"/>
          <p:cNvSpPr/>
          <p:nvPr/>
        </p:nvSpPr>
        <p:spPr>
          <a:xfrm>
            <a:off x="6099048" y="1600200"/>
            <a:ext cx="292608" cy="109728"/>
          </a:xfrm>
          <a:prstGeom prst="rect">
            <a:avLst/>
          </a:prstGeom>
          <a:solidFill>
            <a:srgbClr val="CCCCCC"/>
          </a:solidFill>
          <a:ln w="12700">
            <a:solidFill>
              <a:srgbClr val="CCCCCC"/>
            </a:solidFill>
            <a:prstDash val="solid"/>
          </a:ln>
        </p:spPr>
      </p:sp>
      <p:sp>
        <p:nvSpPr>
          <p:cNvPr id="27" name="Text 25"/>
          <p:cNvSpPr/>
          <p:nvPr/>
        </p:nvSpPr>
        <p:spPr>
          <a:xfrm>
            <a:off x="5184648"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Collect</a:t>
            </a:r>
            <a:endParaRPr lang="en-US" sz="1150" dirty="0"/>
          </a:p>
        </p:txBody>
      </p:sp>
      <p:sp>
        <p:nvSpPr>
          <p:cNvPr id="28" name="Text 26"/>
          <p:cNvSpPr/>
          <p:nvPr/>
        </p:nvSpPr>
        <p:spPr>
          <a:xfrm>
            <a:off x="5184648"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Fetch Metrics</a:t>
            </a:r>
            <a:endParaRPr lang="en-US" sz="1000" dirty="0"/>
          </a:p>
        </p:txBody>
      </p:sp>
      <p:sp>
        <p:nvSpPr>
          <p:cNvPr id="29" name="Shape 27"/>
          <p:cNvSpPr/>
          <p:nvPr/>
        </p:nvSpPr>
        <p:spPr>
          <a:xfrm>
            <a:off x="6656832" y="1325880"/>
            <a:ext cx="658368" cy="658368"/>
          </a:xfrm>
          <a:prstGeom prst="ellipse">
            <a:avLst/>
          </a:prstGeom>
          <a:solidFill>
            <a:srgbClr val="F4A261"/>
          </a:solidFill>
          <a:ln w="12700">
            <a:solidFill>
              <a:srgbClr val="F4A261"/>
            </a:solidFill>
            <a:prstDash val="solid"/>
          </a:ln>
        </p:spPr>
      </p:sp>
      <p:sp>
        <p:nvSpPr>
          <p:cNvPr id="30" name="Text 28"/>
          <p:cNvSpPr/>
          <p:nvPr/>
        </p:nvSpPr>
        <p:spPr>
          <a:xfrm>
            <a:off x="6656832"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1" name="Shape 29"/>
          <p:cNvSpPr/>
          <p:nvPr/>
        </p:nvSpPr>
        <p:spPr>
          <a:xfrm>
            <a:off x="7315200" y="1600200"/>
            <a:ext cx="292608" cy="109728"/>
          </a:xfrm>
          <a:prstGeom prst="rect">
            <a:avLst/>
          </a:prstGeom>
          <a:solidFill>
            <a:srgbClr val="CCCCCC"/>
          </a:solidFill>
          <a:ln w="12700">
            <a:solidFill>
              <a:srgbClr val="CCCCCC"/>
            </a:solidFill>
            <a:prstDash val="solid"/>
          </a:ln>
        </p:spPr>
      </p:sp>
      <p:sp>
        <p:nvSpPr>
          <p:cNvPr id="32" name="Text 30"/>
          <p:cNvSpPr/>
          <p:nvPr/>
        </p:nvSpPr>
        <p:spPr>
          <a:xfrm>
            <a:off x="6400800"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Summarize</a:t>
            </a:r>
            <a:endParaRPr lang="en-US" sz="1150" dirty="0"/>
          </a:p>
        </p:txBody>
      </p:sp>
      <p:sp>
        <p:nvSpPr>
          <p:cNvPr id="33" name="Text 31"/>
          <p:cNvSpPr/>
          <p:nvPr/>
        </p:nvSpPr>
        <p:spPr>
          <a:xfrm>
            <a:off x="6400800"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LLM Summary</a:t>
            </a:r>
            <a:endParaRPr lang="en-US" sz="1000" dirty="0"/>
          </a:p>
        </p:txBody>
      </p:sp>
      <p:sp>
        <p:nvSpPr>
          <p:cNvPr id="34" name="Shape 32"/>
          <p:cNvSpPr/>
          <p:nvPr/>
        </p:nvSpPr>
        <p:spPr>
          <a:xfrm>
            <a:off x="7872984" y="1325880"/>
            <a:ext cx="658368" cy="658368"/>
          </a:xfrm>
          <a:prstGeom prst="ellipse">
            <a:avLst/>
          </a:prstGeom>
          <a:solidFill>
            <a:srgbClr val="B85042"/>
          </a:solidFill>
          <a:ln w="12700">
            <a:solidFill>
              <a:srgbClr val="B85042"/>
            </a:solidFill>
            <a:prstDash val="solid"/>
          </a:ln>
        </p:spPr>
      </p:sp>
      <p:sp>
        <p:nvSpPr>
          <p:cNvPr id="35" name="Text 33"/>
          <p:cNvSpPr/>
          <p:nvPr/>
        </p:nvSpPr>
        <p:spPr>
          <a:xfrm>
            <a:off x="7872984" y="132588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6" name="Text 34"/>
          <p:cNvSpPr/>
          <p:nvPr/>
        </p:nvSpPr>
        <p:spPr>
          <a:xfrm>
            <a:off x="7616952" y="2167128"/>
            <a:ext cx="1170432" cy="347472"/>
          </a:xfrm>
          <a:prstGeom prst="rect">
            <a:avLst/>
          </a:prstGeom>
          <a:noFill/>
          <a:ln/>
        </p:spPr>
        <p:txBody>
          <a:bodyPr wrap="square"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Return</a:t>
            </a:r>
            <a:endParaRPr lang="en-US" sz="1150" dirty="0"/>
          </a:p>
        </p:txBody>
      </p:sp>
      <p:sp>
        <p:nvSpPr>
          <p:cNvPr id="37" name="Text 35"/>
          <p:cNvSpPr/>
          <p:nvPr/>
        </p:nvSpPr>
        <p:spPr>
          <a:xfrm>
            <a:off x="7616952" y="2496312"/>
            <a:ext cx="1170432"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Display &amp; Save</a:t>
            </a:r>
            <a:endParaRPr lang="en-US" sz="1000" dirty="0"/>
          </a:p>
        </p:txBody>
      </p:sp>
      <p:sp>
        <p:nvSpPr>
          <p:cNvPr id="38" name="Shape 36"/>
          <p:cNvSpPr/>
          <p:nvPr/>
        </p:nvSpPr>
        <p:spPr>
          <a:xfrm>
            <a:off x="457200" y="2926080"/>
            <a:ext cx="8229600" cy="1463040"/>
          </a:xfrm>
          <a:prstGeom prst="roundRect">
            <a:avLst>
              <a:gd name="adj" fmla="val 7500"/>
            </a:avLst>
          </a:prstGeom>
          <a:solidFill>
            <a:srgbClr val="EBF7F5"/>
          </a:solidFill>
          <a:ln w="12700">
            <a:solidFill>
              <a:srgbClr val="02C39A"/>
            </a:solidFill>
            <a:prstDash val="solid"/>
          </a:ln>
          <a:effectLst>
            <a:outerShdw blurRad="101600" dist="38100" dir="2700000" algn="bl" rotWithShape="0">
              <a:srgbClr val="000000">
                <a:alpha val="13000"/>
              </a:srgbClr>
            </a:outerShdw>
          </a:effectLst>
        </p:spPr>
      </p:sp>
      <p:sp>
        <p:nvSpPr>
          <p:cNvPr id="39" name="Text 37"/>
          <p:cNvSpPr/>
          <p:nvPr/>
        </p:nvSpPr>
        <p:spPr>
          <a:xfrm>
            <a:off x="731520" y="3035808"/>
            <a:ext cx="7680960" cy="347472"/>
          </a:xfrm>
          <a:prstGeom prst="rect">
            <a:avLst/>
          </a:prstGeom>
          <a:noFill/>
          <a:ln/>
        </p:spPr>
        <p:txBody>
          <a:bodyPr wrap="square"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Why ReAct?</a:t>
            </a:r>
            <a:endParaRPr lang="en-US" sz="1350" dirty="0"/>
          </a:p>
        </p:txBody>
      </p:sp>
      <p:sp>
        <p:nvSpPr>
          <p:cNvPr id="40" name="Text 38"/>
          <p:cNvSpPr/>
          <p:nvPr/>
        </p:nvSpPr>
        <p:spPr>
          <a:xfrm>
            <a:off x="731520" y="3401568"/>
            <a:ext cx="7680960" cy="86868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Transparency: </a:t>
            </a:r>
            <a:r>
              <a:rPr lang="en-US" sz="1200" dirty="0">
                <a:solidFill>
                  <a:srgbClr val="1B2A4A"/>
                </a:solidFill>
                <a:latin typeface="Calibri" pitchFamily="34" charset="0"/>
                <a:ea typeface="Calibri" pitchFamily="34" charset="-122"/>
                <a:cs typeface="Calibri" pitchFamily="34" charset="-120"/>
              </a:rPr>
              <a:t>Operators see exactly what the AI decided to do.  </a:t>
            </a:r>
            <a:r>
              <a:rPr lang="en-US" sz="1200" b="1" dirty="0">
                <a:solidFill>
                  <a:srgbClr val="1B2A4A"/>
                </a:solidFill>
                <a:latin typeface="Calibri" pitchFamily="34" charset="0"/>
                <a:ea typeface="Calibri" pitchFamily="34" charset="-122"/>
                <a:cs typeface="Calibri" pitchFamily="34" charset="-120"/>
              </a:rPr>
              <a:t>Debuggability: </a:t>
            </a:r>
            <a:r>
              <a:rPr lang="en-US" sz="1200" dirty="0">
                <a:solidFill>
                  <a:srgbClr val="1B2A4A"/>
                </a:solidFill>
                <a:latin typeface="Calibri" pitchFamily="34" charset="0"/>
                <a:ea typeface="Calibri" pitchFamily="34" charset="-122"/>
                <a:cs typeface="Calibri" pitchFamily="34" charset="-120"/>
              </a:rPr>
              <a:t>Individual step failures are isolated.  </a:t>
            </a:r>
            <a:r>
              <a:rPr lang="en-US" sz="1200" b="1" dirty="0">
                <a:solidFill>
                  <a:srgbClr val="1B2A4A"/>
                </a:solidFill>
                <a:latin typeface="Calibri" pitchFamily="34" charset="0"/>
                <a:ea typeface="Calibri" pitchFamily="34" charset="-122"/>
                <a:cs typeface="Calibri" pitchFamily="34" charset="-120"/>
              </a:rPr>
              <a:t>Auditability: </a:t>
            </a:r>
            <a:r>
              <a:rPr lang="en-US" sz="1200" dirty="0">
                <a:solidFill>
                  <a:srgbClr val="1B2A4A"/>
                </a:solidFill>
                <a:latin typeface="Calibri" pitchFamily="34" charset="0"/>
                <a:ea typeface="Calibri" pitchFamily="34" charset="-122"/>
                <a:cs typeface="Calibri" pitchFamily="34" charset="-120"/>
              </a:rPr>
              <a:t>Every reasoning trace is permanently saved.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Agent Steps 1–4: Parse, Translate &amp; Execute</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How natural language becomes safe, deterministic Docker commands</a:t>
            </a:r>
            <a:endParaRPr lang="en-US" sz="1350" dirty="0"/>
          </a:p>
        </p:txBody>
      </p:sp>
      <p:sp>
        <p:nvSpPr>
          <p:cNvPr id="4" name="Shape 2"/>
          <p:cNvSpPr/>
          <p:nvPr/>
        </p:nvSpPr>
        <p:spPr>
          <a:xfrm>
            <a:off x="365760" y="1261872"/>
            <a:ext cx="4023360" cy="1600200"/>
          </a:xfrm>
          <a:prstGeom prst="roundRect">
            <a:avLst>
              <a:gd name="adj" fmla="val 6857"/>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Shape 3"/>
          <p:cNvSpPr/>
          <p:nvPr/>
        </p:nvSpPr>
        <p:spPr>
          <a:xfrm>
            <a:off x="548640" y="1463040"/>
            <a:ext cx="384048" cy="384048"/>
          </a:xfrm>
          <a:prstGeom prst="ellipse">
            <a:avLst/>
          </a:prstGeom>
          <a:solidFill>
            <a:srgbClr val="028090"/>
          </a:solidFill>
          <a:ln w="12700">
            <a:solidFill>
              <a:srgbClr val="028090"/>
            </a:solidFill>
            <a:prstDash val="solid"/>
          </a:ln>
        </p:spPr>
      </p:sp>
      <p:sp>
        <p:nvSpPr>
          <p:cNvPr id="6" name="Text 4"/>
          <p:cNvSpPr/>
          <p:nvPr/>
        </p:nvSpPr>
        <p:spPr>
          <a:xfrm>
            <a:off x="548640" y="146304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24128" y="1426464"/>
            <a:ext cx="3200400" cy="38404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Parse — Natural Language Input</a:t>
            </a:r>
            <a:endParaRPr lang="en-US" sz="1200" dirty="0"/>
          </a:p>
        </p:txBody>
      </p:sp>
      <p:sp>
        <p:nvSpPr>
          <p:cNvPr id="8" name="Text 6"/>
          <p:cNvSpPr/>
          <p:nvPr/>
        </p:nvSpPr>
        <p:spPr>
          <a:xfrm>
            <a:off x="548640" y="1856232"/>
            <a:ext cx="3657600" cy="86868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agent reads the user's natural language prompt, filters out dangerous or empty inputs, and prepares the text for reasoning.</a:t>
            </a:r>
            <a:endParaRPr lang="en-US" sz="1100" dirty="0"/>
          </a:p>
        </p:txBody>
      </p:sp>
      <p:sp>
        <p:nvSpPr>
          <p:cNvPr id="9" name="Shape 7"/>
          <p:cNvSpPr/>
          <p:nvPr/>
        </p:nvSpPr>
        <p:spPr>
          <a:xfrm>
            <a:off x="4754880" y="1261872"/>
            <a:ext cx="4023360" cy="1600200"/>
          </a:xfrm>
          <a:prstGeom prst="roundRect">
            <a:avLst>
              <a:gd name="adj" fmla="val 6857"/>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0" name="Shape 8"/>
          <p:cNvSpPr/>
          <p:nvPr/>
        </p:nvSpPr>
        <p:spPr>
          <a:xfrm>
            <a:off x="4937760" y="1463040"/>
            <a:ext cx="384048" cy="384048"/>
          </a:xfrm>
          <a:prstGeom prst="ellipse">
            <a:avLst/>
          </a:prstGeom>
          <a:solidFill>
            <a:srgbClr val="028090"/>
          </a:solidFill>
          <a:ln w="12700">
            <a:solidFill>
              <a:srgbClr val="028090"/>
            </a:solidFill>
            <a:prstDash val="solid"/>
          </a:ln>
        </p:spPr>
      </p:sp>
      <p:sp>
        <p:nvSpPr>
          <p:cNvPr id="11" name="Text 9"/>
          <p:cNvSpPr/>
          <p:nvPr/>
        </p:nvSpPr>
        <p:spPr>
          <a:xfrm>
            <a:off x="4937760" y="146304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413248" y="1426464"/>
            <a:ext cx="3200400" cy="38404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Translate — LLM Reasoning</a:t>
            </a:r>
            <a:endParaRPr lang="en-US" sz="1200" dirty="0"/>
          </a:p>
        </p:txBody>
      </p:sp>
      <p:sp>
        <p:nvSpPr>
          <p:cNvPr id="13" name="Text 11"/>
          <p:cNvSpPr/>
          <p:nvPr/>
        </p:nvSpPr>
        <p:spPr>
          <a:xfrm>
            <a:off x="4937760" y="1856232"/>
            <a:ext cx="3657600" cy="86868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LLM processes the input and returns a structured action (e.g. list containers, restart nginx). Temperature is set low for consistent outputs.</a:t>
            </a:r>
            <a:endParaRPr lang="en-US" sz="1100" dirty="0"/>
          </a:p>
        </p:txBody>
      </p:sp>
      <p:sp>
        <p:nvSpPr>
          <p:cNvPr id="14" name="Shape 12"/>
          <p:cNvSpPr/>
          <p:nvPr/>
        </p:nvSpPr>
        <p:spPr>
          <a:xfrm>
            <a:off x="365760" y="2999232"/>
            <a:ext cx="4023360" cy="1600200"/>
          </a:xfrm>
          <a:prstGeom prst="roundRect">
            <a:avLst>
              <a:gd name="adj" fmla="val 6857"/>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5" name="Shape 13"/>
          <p:cNvSpPr/>
          <p:nvPr/>
        </p:nvSpPr>
        <p:spPr>
          <a:xfrm>
            <a:off x="548640" y="3200400"/>
            <a:ext cx="384048" cy="384048"/>
          </a:xfrm>
          <a:prstGeom prst="ellipse">
            <a:avLst/>
          </a:prstGeom>
          <a:solidFill>
            <a:srgbClr val="028090"/>
          </a:solidFill>
          <a:ln w="12700">
            <a:solidFill>
              <a:srgbClr val="028090"/>
            </a:solidFill>
            <a:prstDash val="solid"/>
          </a:ln>
        </p:spPr>
      </p:sp>
      <p:sp>
        <p:nvSpPr>
          <p:cNvPr id="16" name="Text 14"/>
          <p:cNvSpPr/>
          <p:nvPr/>
        </p:nvSpPr>
        <p:spPr>
          <a:xfrm>
            <a:off x="548640" y="32004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24128" y="3163824"/>
            <a:ext cx="3200400" cy="38404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Select Tool — Action Routing</a:t>
            </a:r>
            <a:endParaRPr lang="en-US" sz="1200" dirty="0"/>
          </a:p>
        </p:txBody>
      </p:sp>
      <p:sp>
        <p:nvSpPr>
          <p:cNvPr id="18" name="Text 16"/>
          <p:cNvSpPr/>
          <p:nvPr/>
        </p:nvSpPr>
        <p:spPr>
          <a:xfrm>
            <a:off x="548640" y="3593592"/>
            <a:ext cx="3657600" cy="86868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agent validates the action type and required fields, then matches the request to the correct Docker operation.</a:t>
            </a:r>
            <a:endParaRPr lang="en-US" sz="1100" dirty="0"/>
          </a:p>
        </p:txBody>
      </p:sp>
      <p:sp>
        <p:nvSpPr>
          <p:cNvPr id="19" name="Shape 17"/>
          <p:cNvSpPr/>
          <p:nvPr/>
        </p:nvSpPr>
        <p:spPr>
          <a:xfrm>
            <a:off x="4754880" y="2999232"/>
            <a:ext cx="4023360" cy="1600200"/>
          </a:xfrm>
          <a:prstGeom prst="roundRect">
            <a:avLst>
              <a:gd name="adj" fmla="val 6857"/>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20" name="Shape 18"/>
          <p:cNvSpPr/>
          <p:nvPr/>
        </p:nvSpPr>
        <p:spPr>
          <a:xfrm>
            <a:off x="4937760" y="3200400"/>
            <a:ext cx="384048" cy="384048"/>
          </a:xfrm>
          <a:prstGeom prst="ellipse">
            <a:avLst/>
          </a:prstGeom>
          <a:solidFill>
            <a:srgbClr val="028090"/>
          </a:solidFill>
          <a:ln w="12700">
            <a:solidFill>
              <a:srgbClr val="028090"/>
            </a:solidFill>
            <a:prstDash val="solid"/>
          </a:ln>
        </p:spPr>
      </p:sp>
      <p:sp>
        <p:nvSpPr>
          <p:cNvPr id="21" name="Text 19"/>
          <p:cNvSpPr/>
          <p:nvPr/>
        </p:nvSpPr>
        <p:spPr>
          <a:xfrm>
            <a:off x="4937760" y="32004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413248" y="3163824"/>
            <a:ext cx="3200400" cy="384048"/>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Execute — Docker API Call</a:t>
            </a:r>
            <a:endParaRPr lang="en-US" sz="1200" dirty="0"/>
          </a:p>
        </p:txBody>
      </p:sp>
      <p:sp>
        <p:nvSpPr>
          <p:cNvPr id="23" name="Text 21"/>
          <p:cNvSpPr/>
          <p:nvPr/>
        </p:nvSpPr>
        <p:spPr>
          <a:xfrm>
            <a:off x="4937760" y="3593592"/>
            <a:ext cx="3657600" cy="86868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matched operation runs against the Docker SDK with timeout safeguards and platform compatibility checks.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Agent Steps 5–7: Collect, Summarize &amp; Log</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Telemetry consolidation, readable summaries, and persistent audit trails</a:t>
            </a:r>
            <a:endParaRPr lang="en-US" sz="1350" dirty="0"/>
          </a:p>
        </p:txBody>
      </p:sp>
      <p:sp>
        <p:nvSpPr>
          <p:cNvPr id="4" name="Shape 2"/>
          <p:cNvSpPr/>
          <p:nvPr/>
        </p:nvSpPr>
        <p:spPr>
          <a:xfrm>
            <a:off x="365760" y="1261872"/>
            <a:ext cx="8412480" cy="1078992"/>
          </a:xfrm>
          <a:prstGeom prst="roundRect">
            <a:avLst>
              <a:gd name="adj" fmla="val 10169"/>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Shape 3"/>
          <p:cNvSpPr/>
          <p:nvPr/>
        </p:nvSpPr>
        <p:spPr>
          <a:xfrm>
            <a:off x="548640" y="1426464"/>
            <a:ext cx="438912" cy="438912"/>
          </a:xfrm>
          <a:prstGeom prst="ellipse">
            <a:avLst/>
          </a:prstGeom>
          <a:solidFill>
            <a:srgbClr val="02C39A"/>
          </a:solidFill>
          <a:ln w="12700">
            <a:solidFill>
              <a:srgbClr val="02C39A"/>
            </a:solidFill>
            <a:prstDash val="solid"/>
          </a:ln>
        </p:spPr>
      </p:sp>
      <p:sp>
        <p:nvSpPr>
          <p:cNvPr id="6" name="Text 4"/>
          <p:cNvSpPr/>
          <p:nvPr/>
        </p:nvSpPr>
        <p:spPr>
          <a:xfrm>
            <a:off x="548640" y="1426464"/>
            <a:ext cx="438912"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7" name="Text 5"/>
          <p:cNvSpPr/>
          <p:nvPr/>
        </p:nvSpPr>
        <p:spPr>
          <a:xfrm>
            <a:off x="1097280" y="1353312"/>
            <a:ext cx="731520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Collect — Result Formatting</a:t>
            </a:r>
            <a:endParaRPr lang="en-US" sz="1300" dirty="0"/>
          </a:p>
        </p:txBody>
      </p:sp>
      <p:sp>
        <p:nvSpPr>
          <p:cNvPr id="8" name="Text 6"/>
          <p:cNvSpPr/>
          <p:nvPr/>
        </p:nvSpPr>
        <p:spPr>
          <a:xfrm>
            <a:off x="1097280" y="1737360"/>
            <a:ext cx="7315200" cy="530352"/>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Raw Docker SDK output is structured into status maps, stdout data, and runtime metrics. Execution time is calculated in milliseconds.</a:t>
            </a:r>
            <a:endParaRPr lang="en-US" sz="1150" dirty="0"/>
          </a:p>
        </p:txBody>
      </p:sp>
      <p:sp>
        <p:nvSpPr>
          <p:cNvPr id="9" name="Shape 7"/>
          <p:cNvSpPr/>
          <p:nvPr/>
        </p:nvSpPr>
        <p:spPr>
          <a:xfrm>
            <a:off x="365760" y="2468880"/>
            <a:ext cx="8412480" cy="1078992"/>
          </a:xfrm>
          <a:prstGeom prst="roundRect">
            <a:avLst>
              <a:gd name="adj" fmla="val 10169"/>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0" name="Shape 8"/>
          <p:cNvSpPr/>
          <p:nvPr/>
        </p:nvSpPr>
        <p:spPr>
          <a:xfrm>
            <a:off x="548640" y="2633472"/>
            <a:ext cx="438912" cy="438912"/>
          </a:xfrm>
          <a:prstGeom prst="ellipse">
            <a:avLst/>
          </a:prstGeom>
          <a:solidFill>
            <a:srgbClr val="02C39A"/>
          </a:solidFill>
          <a:ln w="12700">
            <a:solidFill>
              <a:srgbClr val="02C39A"/>
            </a:solidFill>
            <a:prstDash val="solid"/>
          </a:ln>
        </p:spPr>
      </p:sp>
      <p:sp>
        <p:nvSpPr>
          <p:cNvPr id="11" name="Text 9"/>
          <p:cNvSpPr/>
          <p:nvPr/>
        </p:nvSpPr>
        <p:spPr>
          <a:xfrm>
            <a:off x="548640" y="2633472"/>
            <a:ext cx="438912"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2" name="Text 10"/>
          <p:cNvSpPr/>
          <p:nvPr/>
        </p:nvSpPr>
        <p:spPr>
          <a:xfrm>
            <a:off x="1097280" y="2560320"/>
            <a:ext cx="731520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Summarize — AI Summary</a:t>
            </a:r>
            <a:endParaRPr lang="en-US" sz="1300" dirty="0"/>
          </a:p>
        </p:txBody>
      </p:sp>
      <p:sp>
        <p:nvSpPr>
          <p:cNvPr id="13" name="Text 11"/>
          <p:cNvSpPr/>
          <p:nvPr/>
        </p:nvSpPr>
        <p:spPr>
          <a:xfrm>
            <a:off x="1097280" y="2944368"/>
            <a:ext cx="7315200" cy="530352"/>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The LLM converts raw results into plain English. Resource alerts fire when CPU or memory exceeds 80%. Log lines are scanned for errors and warnings.</a:t>
            </a:r>
            <a:endParaRPr lang="en-US" sz="1150" dirty="0"/>
          </a:p>
        </p:txBody>
      </p:sp>
      <p:sp>
        <p:nvSpPr>
          <p:cNvPr id="14" name="Shape 12"/>
          <p:cNvSpPr/>
          <p:nvPr/>
        </p:nvSpPr>
        <p:spPr>
          <a:xfrm>
            <a:off x="365760" y="3675888"/>
            <a:ext cx="8412480" cy="1078992"/>
          </a:xfrm>
          <a:prstGeom prst="roundRect">
            <a:avLst>
              <a:gd name="adj" fmla="val 10169"/>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5" name="Shape 13"/>
          <p:cNvSpPr/>
          <p:nvPr/>
        </p:nvSpPr>
        <p:spPr>
          <a:xfrm>
            <a:off x="548640" y="3840480"/>
            <a:ext cx="438912" cy="438912"/>
          </a:xfrm>
          <a:prstGeom prst="ellipse">
            <a:avLst/>
          </a:prstGeom>
          <a:solidFill>
            <a:srgbClr val="02C39A"/>
          </a:solidFill>
          <a:ln w="12700">
            <a:solidFill>
              <a:srgbClr val="02C39A"/>
            </a:solidFill>
            <a:prstDash val="solid"/>
          </a:ln>
        </p:spPr>
      </p:sp>
      <p:sp>
        <p:nvSpPr>
          <p:cNvPr id="16" name="Text 14"/>
          <p:cNvSpPr/>
          <p:nvPr/>
        </p:nvSpPr>
        <p:spPr>
          <a:xfrm>
            <a:off x="548640" y="3840480"/>
            <a:ext cx="438912"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7" name="Text 15"/>
          <p:cNvSpPr/>
          <p:nvPr/>
        </p:nvSpPr>
        <p:spPr>
          <a:xfrm>
            <a:off x="1097280" y="3767328"/>
            <a:ext cx="7315200" cy="347472"/>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Return — Display &amp; Persist</a:t>
            </a:r>
            <a:endParaRPr lang="en-US" sz="1300" dirty="0"/>
          </a:p>
        </p:txBody>
      </p:sp>
      <p:sp>
        <p:nvSpPr>
          <p:cNvPr id="18" name="Text 16"/>
          <p:cNvSpPr/>
          <p:nvPr/>
        </p:nvSpPr>
        <p:spPr>
          <a:xfrm>
            <a:off x="1097280" y="4151376"/>
            <a:ext cx="7315200" cy="530352"/>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Results are shown in the Streamlit dashboard. Simultaneously, all prompt data, container events, and audit records are written to SQLite and a timestamped log file.</a:t>
            </a:r>
            <a:endParaRPr lang="en-US" sz="1150" dirty="0"/>
          </a:p>
        </p:txBody>
      </p:sp>
      <p:sp>
        <p:nvSpPr>
          <p:cNvPr id="19" name="Shape 17"/>
          <p:cNvSpPr/>
          <p:nvPr/>
        </p:nvSpPr>
        <p:spPr>
          <a:xfrm>
            <a:off x="365760" y="4846320"/>
            <a:ext cx="8412480" cy="201168"/>
          </a:xfrm>
          <a:prstGeom prst="roundRect">
            <a:avLst>
              <a:gd name="adj" fmla="val 54545"/>
            </a:avLst>
          </a:prstGeom>
          <a:solidFill>
            <a:srgbClr val="EBF7F5"/>
          </a:solidFill>
          <a:ln w="12700">
            <a:solidFill>
              <a:srgbClr val="02C39A"/>
            </a:solidFill>
            <a:prstDash val="solid"/>
          </a:ln>
          <a:effectLst>
            <a:outerShdw blurRad="101600" dist="38100" dir="2700000" algn="bl" rotWithShape="0">
              <a:srgbClr val="000000">
                <a:alpha val="13000"/>
              </a:srgbClr>
            </a:outerShdw>
          </a:effectLst>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700" b="1" dirty="0">
                <a:solidFill>
                  <a:srgbClr val="1B2A4A"/>
                </a:solidFill>
                <a:latin typeface="Calibri" pitchFamily="34" charset="0"/>
                <a:ea typeface="Calibri" pitchFamily="34" charset="-122"/>
                <a:cs typeface="Calibri" pitchFamily="34" charset="-120"/>
              </a:rPr>
              <a:t>Core Components: llm.py &amp; docker_manager.py</a:t>
            </a:r>
            <a:endParaRPr lang="en-US" sz="27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LLM orchestration and Docker SDK wrapper powering AI-to-container translation</a:t>
            </a:r>
            <a:endParaRPr lang="en-US" sz="1350" dirty="0"/>
          </a:p>
        </p:txBody>
      </p:sp>
      <p:sp>
        <p:nvSpPr>
          <p:cNvPr id="4" name="Shape 2"/>
          <p:cNvSpPr/>
          <p:nvPr/>
        </p:nvSpPr>
        <p:spPr>
          <a:xfrm>
            <a:off x="365760" y="1234440"/>
            <a:ext cx="4114800" cy="3474720"/>
          </a:xfrm>
          <a:prstGeom prst="roundRect">
            <a:avLst>
              <a:gd name="adj" fmla="val 3158"/>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94360" y="1371600"/>
            <a:ext cx="365760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  llm.py</a:t>
            </a:r>
            <a:endParaRPr lang="en-US" sz="1500" dirty="0"/>
          </a:p>
        </p:txBody>
      </p:sp>
      <p:sp>
        <p:nvSpPr>
          <p:cNvPr id="6" name="Text 4"/>
          <p:cNvSpPr/>
          <p:nvPr/>
        </p:nvSpPr>
        <p:spPr>
          <a:xfrm>
            <a:off x="594360" y="18745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Uses Groq Cloud API with the llama-3.3-70b model</a:t>
            </a:r>
            <a:endParaRPr lang="en-US" sz="1150" dirty="0"/>
          </a:p>
        </p:txBody>
      </p:sp>
      <p:sp>
        <p:nvSpPr>
          <p:cNvPr id="7" name="Text 5"/>
          <p:cNvSpPr/>
          <p:nvPr/>
        </p:nvSpPr>
        <p:spPr>
          <a:xfrm>
            <a:off x="594360" y="23317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Temperature set to 0.1 for deterministic outputs</a:t>
            </a:r>
            <a:endParaRPr lang="en-US" sz="1150" dirty="0"/>
          </a:p>
        </p:txBody>
      </p:sp>
      <p:sp>
        <p:nvSpPr>
          <p:cNvPr id="8" name="Text 6"/>
          <p:cNvSpPr/>
          <p:nvPr/>
        </p:nvSpPr>
        <p:spPr>
          <a:xfrm>
            <a:off x="594360" y="27889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Extracts structured JSON from LLM responses</a:t>
            </a:r>
            <a:endParaRPr lang="en-US" sz="1150" dirty="0"/>
          </a:p>
        </p:txBody>
      </p:sp>
      <p:sp>
        <p:nvSpPr>
          <p:cNvPr id="9" name="Text 7"/>
          <p:cNvSpPr/>
          <p:nvPr/>
        </p:nvSpPr>
        <p:spPr>
          <a:xfrm>
            <a:off x="594360" y="32461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Generates action-specific plain-English summaries</a:t>
            </a:r>
            <a:endParaRPr lang="en-US" sz="1150" dirty="0"/>
          </a:p>
        </p:txBody>
      </p:sp>
      <p:sp>
        <p:nvSpPr>
          <p:cNvPr id="10" name="Text 8"/>
          <p:cNvSpPr/>
          <p:nvPr/>
        </p:nvSpPr>
        <p:spPr>
          <a:xfrm>
            <a:off x="594360" y="37033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Scans logs for error, fatal, and warning tags</a:t>
            </a:r>
            <a:endParaRPr lang="en-US" sz="1150" dirty="0"/>
          </a:p>
        </p:txBody>
      </p:sp>
      <p:sp>
        <p:nvSpPr>
          <p:cNvPr id="11" name="Text 9"/>
          <p:cNvSpPr/>
          <p:nvPr/>
        </p:nvSpPr>
        <p:spPr>
          <a:xfrm>
            <a:off x="594360" y="41605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Falls back gracefully to a default error structure on API failure</a:t>
            </a:r>
            <a:endParaRPr lang="en-US" sz="1150" dirty="0"/>
          </a:p>
        </p:txBody>
      </p:sp>
      <p:sp>
        <p:nvSpPr>
          <p:cNvPr id="12" name="Shape 10"/>
          <p:cNvSpPr/>
          <p:nvPr/>
        </p:nvSpPr>
        <p:spPr>
          <a:xfrm>
            <a:off x="4663440" y="1234440"/>
            <a:ext cx="4114800" cy="3474720"/>
          </a:xfrm>
          <a:prstGeom prst="roundRect">
            <a:avLst>
              <a:gd name="adj" fmla="val 3158"/>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3" name="Text 11"/>
          <p:cNvSpPr/>
          <p:nvPr/>
        </p:nvSpPr>
        <p:spPr>
          <a:xfrm>
            <a:off x="4892040" y="1371600"/>
            <a:ext cx="3657600" cy="384048"/>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  docker_manager.py</a:t>
            </a:r>
            <a:endParaRPr lang="en-US" sz="1500" dirty="0"/>
          </a:p>
        </p:txBody>
      </p:sp>
      <p:sp>
        <p:nvSpPr>
          <p:cNvPr id="14" name="Text 12"/>
          <p:cNvSpPr/>
          <p:nvPr/>
        </p:nvSpPr>
        <p:spPr>
          <a:xfrm>
            <a:off x="4892040" y="18745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Auto-detects unix socket or Windows named pipe</a:t>
            </a:r>
            <a:endParaRPr lang="en-US" sz="1150" dirty="0"/>
          </a:p>
        </p:txBody>
      </p:sp>
      <p:sp>
        <p:nvSpPr>
          <p:cNvPr id="15" name="Text 13"/>
          <p:cNvSpPr/>
          <p:nvPr/>
        </p:nvSpPr>
        <p:spPr>
          <a:xfrm>
            <a:off x="4892040" y="23317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Validates Docker connection with a ping on startup</a:t>
            </a:r>
            <a:endParaRPr lang="en-US" sz="1150" dirty="0"/>
          </a:p>
        </p:txBody>
      </p:sp>
      <p:sp>
        <p:nvSpPr>
          <p:cNvPr id="16" name="Text 14"/>
          <p:cNvSpPr/>
          <p:nvPr/>
        </p:nvSpPr>
        <p:spPr>
          <a:xfrm>
            <a:off x="4892040" y="27889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Supports start, stop, and restart with timeout safety</a:t>
            </a:r>
            <a:endParaRPr lang="en-US" sz="1150" dirty="0"/>
          </a:p>
        </p:txBody>
      </p:sp>
      <p:sp>
        <p:nvSpPr>
          <p:cNvPr id="17" name="Text 15"/>
          <p:cNvSpPr/>
          <p:nvPr/>
        </p:nvSpPr>
        <p:spPr>
          <a:xfrm>
            <a:off x="4892040" y="32461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Calculates CPU usage from delta metrics across cores</a:t>
            </a:r>
            <a:endParaRPr lang="en-US" sz="1150" dirty="0"/>
          </a:p>
        </p:txBody>
      </p:sp>
      <p:sp>
        <p:nvSpPr>
          <p:cNvPr id="18" name="Text 16"/>
          <p:cNvSpPr/>
          <p:nvPr/>
        </p:nvSpPr>
        <p:spPr>
          <a:xfrm>
            <a:off x="4892040" y="37033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Converts raw memory bytes to clean Megabyte figures</a:t>
            </a:r>
            <a:endParaRPr lang="en-US" sz="1150" dirty="0"/>
          </a:p>
        </p:txBody>
      </p:sp>
      <p:sp>
        <p:nvSpPr>
          <p:cNvPr id="19" name="Text 17"/>
          <p:cNvSpPr/>
          <p:nvPr/>
        </p:nvSpPr>
        <p:spPr>
          <a:xfrm>
            <a:off x="4892040" y="4160520"/>
            <a:ext cx="3657600" cy="384048"/>
          </a:xfrm>
          <a:prstGeom prst="rect">
            <a:avLst/>
          </a:prstGeom>
          <a:noFill/>
          <a:ln/>
        </p:spPr>
        <p:txBody>
          <a:bodyPr wrap="square" rtlCol="0" anchor="ctr"/>
          <a:lstStyle/>
          <a:p>
            <a:pPr marL="0" indent="0">
              <a:buNone/>
            </a:pPr>
            <a:r>
              <a:rPr lang="en-US" sz="1150" dirty="0">
                <a:solidFill>
                  <a:srgbClr val="4A6080"/>
                </a:solidFill>
                <a:latin typeface="Calibri" pitchFamily="34" charset="0"/>
                <a:ea typeface="Calibri" pitchFamily="34" charset="-122"/>
                <a:cs typeface="Calibri" pitchFamily="34" charset="-120"/>
              </a:rPr>
              <a:t>• Returns zero values safely for stopped or paused containers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1B2A4A"/>
                </a:solidFill>
                <a:latin typeface="Calibri" pitchFamily="34" charset="0"/>
                <a:ea typeface="Calibri" pitchFamily="34" charset="-122"/>
                <a:cs typeface="Calibri" pitchFamily="34" charset="-120"/>
              </a:rPr>
              <a:t>System Prompt Engineering</a:t>
            </a:r>
            <a:endParaRPr lang="en-US" sz="30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Strict behavioral constraints that make LLM outputs accurate and predictable</a:t>
            </a:r>
            <a:endParaRPr lang="en-US" sz="1350" dirty="0"/>
          </a:p>
        </p:txBody>
      </p:sp>
      <p:sp>
        <p:nvSpPr>
          <p:cNvPr id="4" name="Shape 2"/>
          <p:cNvSpPr/>
          <p:nvPr/>
        </p:nvSpPr>
        <p:spPr>
          <a:xfrm>
            <a:off x="365760" y="1234440"/>
            <a:ext cx="4023360" cy="1097280"/>
          </a:xfrm>
          <a:prstGeom prst="roundRect">
            <a:avLst>
              <a:gd name="adj" fmla="val 10000"/>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48640" y="1325880"/>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Instructional Scaffolding</a:t>
            </a:r>
            <a:endParaRPr lang="en-US" sz="1250" dirty="0"/>
          </a:p>
        </p:txBody>
      </p:sp>
      <p:sp>
        <p:nvSpPr>
          <p:cNvPr id="6" name="Text 4"/>
          <p:cNvSpPr/>
          <p:nvPr/>
        </p:nvSpPr>
        <p:spPr>
          <a:xfrm>
            <a:off x="548640" y="1673352"/>
            <a:ext cx="3657600" cy="56692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LLM is instructed to act purely as a translator — it never converses, advises, or explains. It only converts user intent into action.</a:t>
            </a:r>
            <a:endParaRPr lang="en-US" sz="1100" dirty="0"/>
          </a:p>
        </p:txBody>
      </p:sp>
      <p:sp>
        <p:nvSpPr>
          <p:cNvPr id="9" name="Text 7"/>
          <p:cNvSpPr/>
          <p:nvPr/>
        </p:nvSpPr>
        <p:spPr>
          <a:xfrm>
            <a:off x="548640" y="2907792"/>
            <a:ext cx="3657600" cy="566928"/>
          </a:xfrm>
          <a:prstGeom prst="rect">
            <a:avLst/>
          </a:prstGeom>
          <a:noFill/>
          <a:ln/>
        </p:spPr>
        <p:txBody>
          <a:bodyPr wrap="square" rtlCol="0" anchor="ctr"/>
          <a:lstStyle/>
          <a:p>
            <a:pPr marL="0" indent="0">
              <a:buNone/>
            </a:pPr>
            <a:endParaRPr lang="en-US" sz="1100" dirty="0"/>
          </a:p>
        </p:txBody>
      </p:sp>
      <p:sp>
        <p:nvSpPr>
          <p:cNvPr id="10" name="Shape 8"/>
          <p:cNvSpPr/>
          <p:nvPr/>
        </p:nvSpPr>
        <p:spPr>
          <a:xfrm>
            <a:off x="365760" y="3044952"/>
            <a:ext cx="4023360" cy="1097280"/>
          </a:xfrm>
          <a:prstGeom prst="roundRect">
            <a:avLst>
              <a:gd name="adj" fmla="val 10000"/>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1" name="Text 9"/>
          <p:cNvSpPr/>
          <p:nvPr/>
        </p:nvSpPr>
        <p:spPr>
          <a:xfrm>
            <a:off x="548640" y="3154680"/>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Few-Shot Examples</a:t>
            </a:r>
            <a:endParaRPr lang="en-US" sz="1250" dirty="0"/>
          </a:p>
        </p:txBody>
      </p:sp>
      <p:sp>
        <p:nvSpPr>
          <p:cNvPr id="12" name="Text 10"/>
          <p:cNvSpPr/>
          <p:nvPr/>
        </p:nvSpPr>
        <p:spPr>
          <a:xfrm>
            <a:off x="548640" y="3515191"/>
            <a:ext cx="3657600" cy="56692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Common phrasings like 'what crashed in the last hour' are pre-mapped to their correct action so the model handles ambiguous inputs reliably.</a:t>
            </a:r>
            <a:endParaRPr lang="en-US" sz="1100" dirty="0"/>
          </a:p>
        </p:txBody>
      </p:sp>
      <p:sp>
        <p:nvSpPr>
          <p:cNvPr id="13" name="Shape 11"/>
          <p:cNvSpPr/>
          <p:nvPr/>
        </p:nvSpPr>
        <p:spPr>
          <a:xfrm>
            <a:off x="4754880" y="1234440"/>
            <a:ext cx="4023360" cy="1097280"/>
          </a:xfrm>
          <a:prstGeom prst="roundRect">
            <a:avLst>
              <a:gd name="adj" fmla="val 10000"/>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4" name="Text 12"/>
          <p:cNvSpPr/>
          <p:nvPr/>
        </p:nvSpPr>
        <p:spPr>
          <a:xfrm>
            <a:off x="4937760" y="1325880"/>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JSON Enforcement</a:t>
            </a:r>
            <a:endParaRPr lang="en-US" sz="1250" dirty="0"/>
          </a:p>
        </p:txBody>
      </p:sp>
      <p:sp>
        <p:nvSpPr>
          <p:cNvPr id="15" name="Text 13"/>
          <p:cNvSpPr/>
          <p:nvPr/>
        </p:nvSpPr>
        <p:spPr>
          <a:xfrm>
            <a:off x="4937760" y="1673352"/>
            <a:ext cx="3657600" cy="56692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prompt ends with a hard rule: respond with valid JSON only. No preamble, no explanation, no markdown wrapping — just the action object.</a:t>
            </a:r>
            <a:endParaRPr lang="en-US" sz="1100" dirty="0"/>
          </a:p>
        </p:txBody>
      </p:sp>
      <p:sp>
        <p:nvSpPr>
          <p:cNvPr id="16" name="Shape 14"/>
          <p:cNvSpPr/>
          <p:nvPr/>
        </p:nvSpPr>
        <p:spPr>
          <a:xfrm>
            <a:off x="4754880" y="3044952"/>
            <a:ext cx="4023360" cy="1097280"/>
          </a:xfrm>
          <a:prstGeom prst="roundRect">
            <a:avLst>
              <a:gd name="adj" fmla="val 10000"/>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7" name="Text 15"/>
          <p:cNvSpPr/>
          <p:nvPr/>
        </p:nvSpPr>
        <p:spPr>
          <a:xfrm>
            <a:off x="4937760" y="3152563"/>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Parameter Constancy</a:t>
            </a:r>
            <a:endParaRPr lang="en-US" sz="1250" dirty="0"/>
          </a:p>
        </p:txBody>
      </p:sp>
      <p:sp>
        <p:nvSpPr>
          <p:cNvPr id="18" name="Text 16"/>
          <p:cNvSpPr/>
          <p:nvPr/>
        </p:nvSpPr>
        <p:spPr>
          <a:xfrm>
            <a:off x="4937760" y="3474720"/>
            <a:ext cx="3657600" cy="56692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The model is prohibited from generating keys outside the defined payload formats, keeping every output machine-readable and safe to execute.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Data Persistence: database.py &amp; SQLite</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Zero-configuration local persistence with structured audit trails</a:t>
            </a:r>
            <a:endParaRPr lang="en-US" sz="1350" dirty="0"/>
          </a:p>
        </p:txBody>
      </p:sp>
      <p:sp>
        <p:nvSpPr>
          <p:cNvPr id="4" name="Shape 2"/>
          <p:cNvSpPr/>
          <p:nvPr/>
        </p:nvSpPr>
        <p:spPr>
          <a:xfrm>
            <a:off x="365760" y="1261872"/>
            <a:ext cx="8412480" cy="1115568"/>
          </a:xfrm>
          <a:prstGeom prst="roundRect">
            <a:avLst>
              <a:gd name="adj" fmla="val 9836"/>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94360" y="1353312"/>
            <a:ext cx="3200400" cy="347472"/>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  Prompt Logs</a:t>
            </a:r>
            <a:endParaRPr lang="en-US" sz="1350" dirty="0"/>
          </a:p>
        </p:txBody>
      </p:sp>
      <p:sp>
        <p:nvSpPr>
          <p:cNvPr id="6" name="Text 4"/>
          <p:cNvSpPr/>
          <p:nvPr/>
        </p:nvSpPr>
        <p:spPr>
          <a:xfrm>
            <a:off x="594360" y="1737360"/>
            <a:ext cx="3931920" cy="53035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Records every user prompt, the AI-generated action, the execution result, and the time taken in milliseconds.</a:t>
            </a:r>
            <a:endParaRPr lang="en-US" sz="1100" dirty="0"/>
          </a:p>
        </p:txBody>
      </p:sp>
      <p:sp>
        <p:nvSpPr>
          <p:cNvPr id="7" name="Text 5"/>
          <p:cNvSpPr/>
          <p:nvPr/>
        </p:nvSpPr>
        <p:spPr>
          <a:xfrm>
            <a:off x="4663440" y="1490472"/>
            <a:ext cx="3931920" cy="685800"/>
          </a:xfrm>
          <a:prstGeom prst="rect">
            <a:avLst/>
          </a:prstGeom>
          <a:noFill/>
          <a:ln/>
        </p:spPr>
        <p:txBody>
          <a:bodyPr wrap="square" rtlCol="0" anchor="ctr"/>
          <a:lstStyle/>
          <a:p>
            <a:pPr marL="0" indent="0">
              <a:buNone/>
            </a:pPr>
            <a:r>
              <a:rPr lang="en-US" sz="1050" dirty="0">
                <a:solidFill>
                  <a:srgbClr val="028090"/>
                </a:solidFill>
                <a:latin typeface="Calibri" pitchFamily="34" charset="0"/>
                <a:ea typeface="Calibri" pitchFamily="34" charset="-122"/>
                <a:cs typeface="Calibri" pitchFamily="34" charset="-120"/>
              </a:rPr>
              <a:t>Fields: ID  ·  Timestamp  ·  User Prompt  ·  Generated Action  ·  Execution Result  ·  Execution Time (ms)</a:t>
            </a:r>
            <a:endParaRPr lang="en-US" sz="1050" dirty="0"/>
          </a:p>
        </p:txBody>
      </p:sp>
      <p:sp>
        <p:nvSpPr>
          <p:cNvPr id="8" name="Shape 6"/>
          <p:cNvSpPr/>
          <p:nvPr/>
        </p:nvSpPr>
        <p:spPr>
          <a:xfrm>
            <a:off x="365760" y="2523744"/>
            <a:ext cx="8412480" cy="1115568"/>
          </a:xfrm>
          <a:prstGeom prst="roundRect">
            <a:avLst>
              <a:gd name="adj" fmla="val 9836"/>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9" name="Text 7"/>
          <p:cNvSpPr/>
          <p:nvPr/>
        </p:nvSpPr>
        <p:spPr>
          <a:xfrm>
            <a:off x="594360" y="2615184"/>
            <a:ext cx="3200400" cy="347472"/>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  Container History</a:t>
            </a:r>
            <a:endParaRPr lang="en-US" sz="1350" dirty="0"/>
          </a:p>
        </p:txBody>
      </p:sp>
      <p:sp>
        <p:nvSpPr>
          <p:cNvPr id="10" name="Text 8"/>
          <p:cNvSpPr/>
          <p:nvPr/>
        </p:nvSpPr>
        <p:spPr>
          <a:xfrm>
            <a:off x="594360" y="2999232"/>
            <a:ext cx="3931920" cy="53035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Archives container snapshots over time — status, CPU usage, and memory usage — for trend analysis.</a:t>
            </a:r>
            <a:endParaRPr lang="en-US" sz="1100" dirty="0"/>
          </a:p>
        </p:txBody>
      </p:sp>
      <p:sp>
        <p:nvSpPr>
          <p:cNvPr id="11" name="Text 9"/>
          <p:cNvSpPr/>
          <p:nvPr/>
        </p:nvSpPr>
        <p:spPr>
          <a:xfrm>
            <a:off x="4663440" y="2752344"/>
            <a:ext cx="3931920" cy="685800"/>
          </a:xfrm>
          <a:prstGeom prst="rect">
            <a:avLst/>
          </a:prstGeom>
          <a:noFill/>
          <a:ln/>
        </p:spPr>
        <p:txBody>
          <a:bodyPr wrap="square" rtlCol="0" anchor="ctr"/>
          <a:lstStyle/>
          <a:p>
            <a:pPr marL="0" indent="0">
              <a:buNone/>
            </a:pPr>
            <a:r>
              <a:rPr lang="en-US" sz="1050" dirty="0">
                <a:solidFill>
                  <a:srgbClr val="028090"/>
                </a:solidFill>
                <a:latin typeface="Calibri" pitchFamily="34" charset="0"/>
                <a:ea typeface="Calibri" pitchFamily="34" charset="-122"/>
                <a:cs typeface="Calibri" pitchFamily="34" charset="-120"/>
              </a:rPr>
              <a:t>Fields: ID  ·  Timestamp  ·  Container ID  ·  Container Name  ·  Status  ·  CPU %  ·  Memory MB</a:t>
            </a:r>
            <a:endParaRPr lang="en-US" sz="1050" dirty="0"/>
          </a:p>
        </p:txBody>
      </p:sp>
      <p:sp>
        <p:nvSpPr>
          <p:cNvPr id="12" name="Shape 10"/>
          <p:cNvSpPr/>
          <p:nvPr/>
        </p:nvSpPr>
        <p:spPr>
          <a:xfrm>
            <a:off x="365760" y="3785616"/>
            <a:ext cx="8412480" cy="1115568"/>
          </a:xfrm>
          <a:prstGeom prst="roundRect">
            <a:avLst>
              <a:gd name="adj" fmla="val 9836"/>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3" name="Text 11"/>
          <p:cNvSpPr/>
          <p:nvPr/>
        </p:nvSpPr>
        <p:spPr>
          <a:xfrm>
            <a:off x="594360" y="3877056"/>
            <a:ext cx="3200400" cy="347472"/>
          </a:xfrm>
          <a:prstGeom prst="rect">
            <a:avLst/>
          </a:prstGeom>
          <a:noFill/>
          <a:ln/>
        </p:spPr>
        <p:txBody>
          <a:bodyPr wrap="square"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  Audit Logs</a:t>
            </a:r>
            <a:endParaRPr lang="en-US" sz="1350" dirty="0"/>
          </a:p>
        </p:txBody>
      </p:sp>
      <p:sp>
        <p:nvSpPr>
          <p:cNvPr id="14" name="Text 12"/>
          <p:cNvSpPr/>
          <p:nvPr/>
        </p:nvSpPr>
        <p:spPr>
          <a:xfrm>
            <a:off x="594360" y="4261104"/>
            <a:ext cx="3931920" cy="53035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Tracks every administrative action (start, stop, restart) with success/failure status for compliance reviews.</a:t>
            </a:r>
            <a:endParaRPr lang="en-US" sz="1100" dirty="0"/>
          </a:p>
        </p:txBody>
      </p:sp>
      <p:sp>
        <p:nvSpPr>
          <p:cNvPr id="15" name="Text 13"/>
          <p:cNvSpPr/>
          <p:nvPr/>
        </p:nvSpPr>
        <p:spPr>
          <a:xfrm>
            <a:off x="4663440" y="4014216"/>
            <a:ext cx="3931920" cy="685800"/>
          </a:xfrm>
          <a:prstGeom prst="rect">
            <a:avLst/>
          </a:prstGeom>
          <a:noFill/>
          <a:ln/>
        </p:spPr>
        <p:txBody>
          <a:bodyPr wrap="square" rtlCol="0" anchor="ctr"/>
          <a:lstStyle/>
          <a:p>
            <a:pPr marL="0" indent="0">
              <a:buNone/>
            </a:pPr>
            <a:r>
              <a:rPr lang="en-US" sz="1050" dirty="0">
                <a:solidFill>
                  <a:srgbClr val="028090"/>
                </a:solidFill>
                <a:latin typeface="Calibri" pitchFamily="34" charset="0"/>
                <a:ea typeface="Calibri" pitchFamily="34" charset="-122"/>
                <a:cs typeface="Calibri" pitchFamily="34" charset="-120"/>
              </a:rPr>
              <a:t>Fields: ID  ·  Timestamp  ·  Action  ·  Status  ·  Details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1B2A4A"/>
                </a:solidFill>
                <a:latin typeface="Calibri" pitchFamily="34" charset="0"/>
                <a:ea typeface="Calibri" pitchFamily="34" charset="-122"/>
                <a:cs typeface="Calibri" pitchFamily="34" charset="-120"/>
              </a:rPr>
              <a:t>Streamlit UI: app.py</a:t>
            </a:r>
            <a:endParaRPr lang="en-US" sz="30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7 integrated pages, custom styling, and resource-cached agent instances</a:t>
            </a:r>
            <a:endParaRPr lang="en-US" sz="1350" dirty="0"/>
          </a:p>
        </p:txBody>
      </p:sp>
      <p:sp>
        <p:nvSpPr>
          <p:cNvPr id="4" name="Shape 2"/>
          <p:cNvSpPr/>
          <p:nvPr/>
        </p:nvSpPr>
        <p:spPr>
          <a:xfrm>
            <a:off x="365760" y="1261872"/>
            <a:ext cx="1965960" cy="658368"/>
          </a:xfrm>
          <a:prstGeom prst="roundRect">
            <a:avLst>
              <a:gd name="adj" fmla="val 13889"/>
            </a:avLst>
          </a:prstGeom>
          <a:solidFill>
            <a:srgbClr val="028090"/>
          </a:solidFill>
          <a:ln w="12700">
            <a:solidFill>
              <a:srgbClr val="FFFFFF"/>
            </a:solidFill>
            <a:prstDash val="solid"/>
          </a:ln>
        </p:spPr>
      </p:sp>
      <p:sp>
        <p:nvSpPr>
          <p:cNvPr id="5" name="Text 3"/>
          <p:cNvSpPr/>
          <p:nvPr/>
        </p:nvSpPr>
        <p:spPr>
          <a:xfrm>
            <a:off x="365760" y="126187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Dashboard</a:t>
            </a:r>
            <a:endParaRPr lang="en-US" sz="1250" dirty="0"/>
          </a:p>
        </p:txBody>
      </p:sp>
      <p:sp>
        <p:nvSpPr>
          <p:cNvPr id="6" name="Shape 4"/>
          <p:cNvSpPr/>
          <p:nvPr/>
        </p:nvSpPr>
        <p:spPr>
          <a:xfrm>
            <a:off x="2496312" y="1261872"/>
            <a:ext cx="1965960" cy="658368"/>
          </a:xfrm>
          <a:prstGeom prst="roundRect">
            <a:avLst>
              <a:gd name="adj" fmla="val 13889"/>
            </a:avLst>
          </a:prstGeom>
          <a:solidFill>
            <a:srgbClr val="028090"/>
          </a:solidFill>
          <a:ln w="12700">
            <a:solidFill>
              <a:srgbClr val="FFFFFF"/>
            </a:solidFill>
            <a:prstDash val="solid"/>
          </a:ln>
        </p:spPr>
      </p:sp>
      <p:sp>
        <p:nvSpPr>
          <p:cNvPr id="7" name="Text 5"/>
          <p:cNvSpPr/>
          <p:nvPr/>
        </p:nvSpPr>
        <p:spPr>
          <a:xfrm>
            <a:off x="2496312" y="126187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Containers</a:t>
            </a:r>
            <a:endParaRPr lang="en-US" sz="1250" dirty="0"/>
          </a:p>
        </p:txBody>
      </p:sp>
      <p:sp>
        <p:nvSpPr>
          <p:cNvPr id="8" name="Shape 6"/>
          <p:cNvSpPr/>
          <p:nvPr/>
        </p:nvSpPr>
        <p:spPr>
          <a:xfrm>
            <a:off x="4626864" y="1261872"/>
            <a:ext cx="1965960" cy="658368"/>
          </a:xfrm>
          <a:prstGeom prst="roundRect">
            <a:avLst>
              <a:gd name="adj" fmla="val 13889"/>
            </a:avLst>
          </a:prstGeom>
          <a:solidFill>
            <a:srgbClr val="028090"/>
          </a:solidFill>
          <a:ln w="12700">
            <a:solidFill>
              <a:srgbClr val="FFFFFF"/>
            </a:solidFill>
            <a:prstDash val="solid"/>
          </a:ln>
        </p:spPr>
      </p:sp>
      <p:sp>
        <p:nvSpPr>
          <p:cNvPr id="9" name="Text 7"/>
          <p:cNvSpPr/>
          <p:nvPr/>
        </p:nvSpPr>
        <p:spPr>
          <a:xfrm>
            <a:off x="4626864" y="126187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AI Agent</a:t>
            </a:r>
            <a:endParaRPr lang="en-US" sz="1250" dirty="0"/>
          </a:p>
        </p:txBody>
      </p:sp>
      <p:sp>
        <p:nvSpPr>
          <p:cNvPr id="10" name="Shape 8"/>
          <p:cNvSpPr/>
          <p:nvPr/>
        </p:nvSpPr>
        <p:spPr>
          <a:xfrm>
            <a:off x="6757416" y="1261872"/>
            <a:ext cx="1965960" cy="658368"/>
          </a:xfrm>
          <a:prstGeom prst="roundRect">
            <a:avLst>
              <a:gd name="adj" fmla="val 13889"/>
            </a:avLst>
          </a:prstGeom>
          <a:solidFill>
            <a:srgbClr val="028090"/>
          </a:solidFill>
          <a:ln w="12700">
            <a:solidFill>
              <a:srgbClr val="FFFFFF"/>
            </a:solidFill>
            <a:prstDash val="solid"/>
          </a:ln>
        </p:spPr>
      </p:sp>
      <p:sp>
        <p:nvSpPr>
          <p:cNvPr id="11" name="Text 9"/>
          <p:cNvSpPr/>
          <p:nvPr/>
        </p:nvSpPr>
        <p:spPr>
          <a:xfrm>
            <a:off x="6757416" y="126187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Logs</a:t>
            </a:r>
            <a:endParaRPr lang="en-US" sz="1250" dirty="0"/>
          </a:p>
        </p:txBody>
      </p:sp>
      <p:sp>
        <p:nvSpPr>
          <p:cNvPr id="13" name="Text 11"/>
          <p:cNvSpPr/>
          <p:nvPr/>
        </p:nvSpPr>
        <p:spPr>
          <a:xfrm>
            <a:off x="365760" y="213055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Analytics</a:t>
            </a:r>
            <a:endParaRPr lang="en-US" sz="1250" dirty="0"/>
          </a:p>
        </p:txBody>
      </p:sp>
      <p:sp>
        <p:nvSpPr>
          <p:cNvPr id="15" name="Text 13"/>
          <p:cNvSpPr/>
          <p:nvPr/>
        </p:nvSpPr>
        <p:spPr>
          <a:xfrm>
            <a:off x="2496312" y="213055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GitHub API</a:t>
            </a:r>
            <a:endParaRPr lang="en-US" sz="1250" dirty="0"/>
          </a:p>
        </p:txBody>
      </p:sp>
      <p:sp>
        <p:nvSpPr>
          <p:cNvPr id="17" name="Text 15"/>
          <p:cNvSpPr/>
          <p:nvPr/>
        </p:nvSpPr>
        <p:spPr>
          <a:xfrm>
            <a:off x="4626864" y="2130552"/>
            <a:ext cx="1965960" cy="65836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Settings</a:t>
            </a:r>
            <a:endParaRPr lang="en-US" sz="1250" dirty="0"/>
          </a:p>
        </p:txBody>
      </p:sp>
      <p:sp>
        <p:nvSpPr>
          <p:cNvPr id="18" name="Shape 16"/>
          <p:cNvSpPr/>
          <p:nvPr/>
        </p:nvSpPr>
        <p:spPr>
          <a:xfrm>
            <a:off x="365760" y="2286000"/>
            <a:ext cx="4023360" cy="1170432"/>
          </a:xfrm>
          <a:prstGeom prst="roundRect">
            <a:avLst>
              <a:gd name="adj" fmla="val 9375"/>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9" name="Text 17"/>
          <p:cNvSpPr/>
          <p:nvPr/>
        </p:nvSpPr>
        <p:spPr>
          <a:xfrm>
            <a:off x="548640" y="2377440"/>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Sidebar Navigation</a:t>
            </a:r>
            <a:endParaRPr lang="en-US" sz="1250" dirty="0"/>
          </a:p>
        </p:txBody>
      </p:sp>
      <p:sp>
        <p:nvSpPr>
          <p:cNvPr id="20" name="Text 18"/>
          <p:cNvSpPr/>
          <p:nvPr/>
        </p:nvSpPr>
        <p:spPr>
          <a:xfrm>
            <a:off x="548640" y="2724912"/>
            <a:ext cx="3657600" cy="62179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 left-side radio list controls page routing, keeping all 7 sections instantly accessible without page reloads.</a:t>
            </a:r>
            <a:endParaRPr lang="en-US" sz="1100" dirty="0"/>
          </a:p>
        </p:txBody>
      </p:sp>
      <p:sp>
        <p:nvSpPr>
          <p:cNvPr id="21" name="Shape 19"/>
          <p:cNvSpPr/>
          <p:nvPr/>
        </p:nvSpPr>
        <p:spPr>
          <a:xfrm>
            <a:off x="4754880" y="2286000"/>
            <a:ext cx="4023360" cy="1170432"/>
          </a:xfrm>
          <a:prstGeom prst="roundRect">
            <a:avLst>
              <a:gd name="adj" fmla="val 9375"/>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22" name="Text 20"/>
          <p:cNvSpPr/>
          <p:nvPr/>
        </p:nvSpPr>
        <p:spPr>
          <a:xfrm>
            <a:off x="4937760" y="2377440"/>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KPI Metric Cards</a:t>
            </a:r>
            <a:endParaRPr lang="en-US" sz="1250" dirty="0"/>
          </a:p>
        </p:txBody>
      </p:sp>
      <p:sp>
        <p:nvSpPr>
          <p:cNvPr id="23" name="Text 21"/>
          <p:cNvSpPr/>
          <p:nvPr/>
        </p:nvSpPr>
        <p:spPr>
          <a:xfrm>
            <a:off x="4937760" y="2724912"/>
            <a:ext cx="3657600" cy="62179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Custom-styled cards display container counts, statuses, and resource usage with soft shadows and clean white fills.</a:t>
            </a:r>
            <a:endParaRPr lang="en-US" sz="1100" dirty="0"/>
          </a:p>
        </p:txBody>
      </p:sp>
      <p:sp>
        <p:nvSpPr>
          <p:cNvPr id="24" name="Shape 22"/>
          <p:cNvSpPr/>
          <p:nvPr/>
        </p:nvSpPr>
        <p:spPr>
          <a:xfrm>
            <a:off x="365760" y="3584448"/>
            <a:ext cx="4023360" cy="1170432"/>
          </a:xfrm>
          <a:prstGeom prst="roundRect">
            <a:avLst>
              <a:gd name="adj" fmla="val 9375"/>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25" name="Text 23"/>
          <p:cNvSpPr/>
          <p:nvPr/>
        </p:nvSpPr>
        <p:spPr>
          <a:xfrm>
            <a:off x="548640" y="3675888"/>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Agent Initialization</a:t>
            </a:r>
            <a:endParaRPr lang="en-US" sz="1250" dirty="0"/>
          </a:p>
        </p:txBody>
      </p:sp>
      <p:sp>
        <p:nvSpPr>
          <p:cNvPr id="26" name="Text 24"/>
          <p:cNvSpPr/>
          <p:nvPr/>
        </p:nvSpPr>
        <p:spPr>
          <a:xfrm>
            <a:off x="548640" y="4023360"/>
            <a:ext cx="3657600" cy="62179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ReactAgent, DockerManager, and the Database are cached on first load so they aren't recreated on every interaction.</a:t>
            </a:r>
            <a:endParaRPr lang="en-US" sz="1100" dirty="0"/>
          </a:p>
        </p:txBody>
      </p:sp>
      <p:sp>
        <p:nvSpPr>
          <p:cNvPr id="27" name="Shape 25"/>
          <p:cNvSpPr/>
          <p:nvPr/>
        </p:nvSpPr>
        <p:spPr>
          <a:xfrm>
            <a:off x="4754880" y="3584448"/>
            <a:ext cx="4023360" cy="1170432"/>
          </a:xfrm>
          <a:prstGeom prst="roundRect">
            <a:avLst>
              <a:gd name="adj" fmla="val 9375"/>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28" name="Text 26"/>
          <p:cNvSpPr/>
          <p:nvPr/>
        </p:nvSpPr>
        <p:spPr>
          <a:xfrm>
            <a:off x="4937760" y="3675888"/>
            <a:ext cx="3657600" cy="320040"/>
          </a:xfrm>
          <a:prstGeom prst="rect">
            <a:avLst/>
          </a:prstGeom>
          <a:noFill/>
          <a:ln/>
        </p:spPr>
        <p:txBody>
          <a:bodyPr wrap="square"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UI Styling</a:t>
            </a:r>
            <a:endParaRPr lang="en-US" sz="1250" dirty="0"/>
          </a:p>
        </p:txBody>
      </p:sp>
      <p:sp>
        <p:nvSpPr>
          <p:cNvPr id="29" name="Text 27"/>
          <p:cNvSpPr/>
          <p:nvPr/>
        </p:nvSpPr>
        <p:spPr>
          <a:xfrm>
            <a:off x="4937760" y="4023360"/>
            <a:ext cx="3657600" cy="621792"/>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Custom CSS is injected via Streamlit to style metric cards, gradient buttons, data tables, and agent step logs.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Analytics: Plotly Charts &amp; Data Pipeline</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Translating raw SQLite metrics into interactive dark-themed telemetry charts</a:t>
            </a:r>
            <a:endParaRPr lang="en-US" sz="1350" dirty="0"/>
          </a:p>
        </p:txBody>
      </p:sp>
      <p:sp>
        <p:nvSpPr>
          <p:cNvPr id="4" name="Shape 2"/>
          <p:cNvSpPr/>
          <p:nvPr/>
        </p:nvSpPr>
        <p:spPr>
          <a:xfrm>
            <a:off x="365760" y="1261872"/>
            <a:ext cx="274320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02920" y="1399032"/>
            <a:ext cx="246888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Status Bar Chart</a:t>
            </a:r>
            <a:endParaRPr lang="en-US" sz="1250" dirty="0"/>
          </a:p>
        </p:txBody>
      </p:sp>
      <p:sp>
        <p:nvSpPr>
          <p:cNvPr id="6" name="Text 4"/>
          <p:cNvSpPr/>
          <p:nvPr/>
        </p:nvSpPr>
        <p:spPr>
          <a:xfrm>
            <a:off x="502920" y="1810512"/>
            <a:ext cx="2468880" cy="82296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Container counts grouped by status — running, stopped, restarting</a:t>
            </a:r>
            <a:endParaRPr lang="en-US" sz="1100" dirty="0"/>
          </a:p>
        </p:txBody>
      </p:sp>
      <p:sp>
        <p:nvSpPr>
          <p:cNvPr id="7" name="Shape 5"/>
          <p:cNvSpPr/>
          <p:nvPr/>
        </p:nvSpPr>
        <p:spPr>
          <a:xfrm>
            <a:off x="3291840" y="1261872"/>
            <a:ext cx="274320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8" name="Text 6"/>
          <p:cNvSpPr/>
          <p:nvPr/>
        </p:nvSpPr>
        <p:spPr>
          <a:xfrm>
            <a:off x="3429000" y="1399032"/>
            <a:ext cx="246888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Status Pie Chart</a:t>
            </a:r>
            <a:endParaRPr lang="en-US" sz="1250" dirty="0"/>
          </a:p>
        </p:txBody>
      </p:sp>
      <p:sp>
        <p:nvSpPr>
          <p:cNvPr id="9" name="Text 7"/>
          <p:cNvSpPr/>
          <p:nvPr/>
        </p:nvSpPr>
        <p:spPr>
          <a:xfrm>
            <a:off x="3429000" y="1810512"/>
            <a:ext cx="2468880" cy="82296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Percentage share of each container status across the fleet</a:t>
            </a:r>
            <a:endParaRPr lang="en-US" sz="1100" dirty="0"/>
          </a:p>
        </p:txBody>
      </p:sp>
      <p:sp>
        <p:nvSpPr>
          <p:cNvPr id="10" name="Shape 8"/>
          <p:cNvSpPr/>
          <p:nvPr/>
        </p:nvSpPr>
        <p:spPr>
          <a:xfrm>
            <a:off x="6217920" y="1261872"/>
            <a:ext cx="274320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1" name="Text 9"/>
          <p:cNvSpPr/>
          <p:nvPr/>
        </p:nvSpPr>
        <p:spPr>
          <a:xfrm>
            <a:off x="6355080" y="1399032"/>
            <a:ext cx="246888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CPU Usage Bar</a:t>
            </a:r>
            <a:endParaRPr lang="en-US" sz="1250" dirty="0"/>
          </a:p>
        </p:txBody>
      </p:sp>
      <p:sp>
        <p:nvSpPr>
          <p:cNvPr id="12" name="Text 10"/>
          <p:cNvSpPr/>
          <p:nvPr/>
        </p:nvSpPr>
        <p:spPr>
          <a:xfrm>
            <a:off x="6355080" y="1810512"/>
            <a:ext cx="2468880" cy="82296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Side-by-side CPU load comparison across all running containers</a:t>
            </a:r>
            <a:endParaRPr lang="en-US" sz="1100" dirty="0"/>
          </a:p>
        </p:txBody>
      </p:sp>
      <p:sp>
        <p:nvSpPr>
          <p:cNvPr id="13" name="Shape 11"/>
          <p:cNvSpPr/>
          <p:nvPr/>
        </p:nvSpPr>
        <p:spPr>
          <a:xfrm>
            <a:off x="365760" y="2953512"/>
            <a:ext cx="274320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4" name="Text 12"/>
          <p:cNvSpPr/>
          <p:nvPr/>
        </p:nvSpPr>
        <p:spPr>
          <a:xfrm>
            <a:off x="502920" y="3090672"/>
            <a:ext cx="246888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Memory Usage Bar</a:t>
            </a:r>
            <a:endParaRPr lang="en-US" sz="1250" dirty="0"/>
          </a:p>
        </p:txBody>
      </p:sp>
      <p:sp>
        <p:nvSpPr>
          <p:cNvPr id="15" name="Text 13"/>
          <p:cNvSpPr/>
          <p:nvPr/>
        </p:nvSpPr>
        <p:spPr>
          <a:xfrm>
            <a:off x="502920" y="3502152"/>
            <a:ext cx="2468880" cy="82296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RAM allocation in Megabytes per container</a:t>
            </a:r>
            <a:endParaRPr lang="en-US" sz="1100" dirty="0"/>
          </a:p>
        </p:txBody>
      </p:sp>
      <p:sp>
        <p:nvSpPr>
          <p:cNvPr id="16" name="Shape 14"/>
          <p:cNvSpPr/>
          <p:nvPr/>
        </p:nvSpPr>
        <p:spPr>
          <a:xfrm>
            <a:off x="3291840" y="2953512"/>
            <a:ext cx="2743200" cy="1508760"/>
          </a:xfrm>
          <a:prstGeom prst="roundRect">
            <a:avLst>
              <a:gd name="adj" fmla="val 7273"/>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17" name="Text 15"/>
          <p:cNvSpPr/>
          <p:nvPr/>
        </p:nvSpPr>
        <p:spPr>
          <a:xfrm>
            <a:off x="3429000" y="3090672"/>
            <a:ext cx="246888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Historical Timeline</a:t>
            </a:r>
            <a:endParaRPr lang="en-US" sz="1250" dirty="0"/>
          </a:p>
        </p:txBody>
      </p:sp>
      <p:sp>
        <p:nvSpPr>
          <p:cNvPr id="18" name="Text 16"/>
          <p:cNvSpPr/>
          <p:nvPr/>
        </p:nvSpPr>
        <p:spPr>
          <a:xfrm>
            <a:off x="3429000" y="3502152"/>
            <a:ext cx="2468880" cy="822960"/>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Scatter plot tracking container state changes over time</a:t>
            </a:r>
            <a:endParaRPr lang="en-US" sz="1100" dirty="0"/>
          </a:p>
        </p:txBody>
      </p:sp>
      <p:sp>
        <p:nvSpPr>
          <p:cNvPr id="19" name="Shape 17"/>
          <p:cNvSpPr/>
          <p:nvPr/>
        </p:nvSpPr>
        <p:spPr>
          <a:xfrm>
            <a:off x="365760" y="4572000"/>
            <a:ext cx="8412480" cy="457200"/>
          </a:xfrm>
          <a:prstGeom prst="roundRect">
            <a:avLst>
              <a:gd name="adj" fmla="val 24000"/>
            </a:avLst>
          </a:prstGeom>
          <a:solidFill>
            <a:srgbClr val="EBF7F5"/>
          </a:solidFill>
          <a:ln w="12700">
            <a:solidFill>
              <a:srgbClr val="02C39A"/>
            </a:solidFill>
            <a:prstDash val="solid"/>
          </a:ln>
          <a:effectLst>
            <a:outerShdw blurRad="101600" dist="38100" dir="2700000" algn="bl" rotWithShape="0">
              <a:srgbClr val="000000">
                <a:alpha val="13000"/>
              </a:srgbClr>
            </a:outerShdw>
          </a:effectLst>
        </p:spPr>
      </p:sp>
      <p:sp>
        <p:nvSpPr>
          <p:cNvPr id="20" name="Text 18"/>
          <p:cNvSpPr/>
          <p:nvPr/>
        </p:nvSpPr>
        <p:spPr>
          <a:xfrm>
            <a:off x="594360" y="4645152"/>
            <a:ext cx="8229600" cy="32004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Pipeline: Query SQLite  →  Load into Pandas DataFrame  →  Build Chart  →  Apply Dark Theme  →  Render in Responsive Columns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Deployment: Dockerfile &amp; Docker Compose</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C39A"/>
                </a:solidFill>
                <a:latin typeface="Calibri" pitchFamily="34" charset="0"/>
                <a:ea typeface="Calibri" pitchFamily="34" charset="-122"/>
                <a:cs typeface="Calibri" pitchFamily="34" charset="-120"/>
              </a:rPr>
              <a:t>Multi-stage production images, health checks, and service orchestration</a:t>
            </a:r>
            <a:endParaRPr lang="en-US" sz="1350" dirty="0"/>
          </a:p>
        </p:txBody>
      </p:sp>
      <p:sp>
        <p:nvSpPr>
          <p:cNvPr id="4" name="Shape 2"/>
          <p:cNvSpPr/>
          <p:nvPr/>
        </p:nvSpPr>
        <p:spPr>
          <a:xfrm>
            <a:off x="365760" y="1234440"/>
            <a:ext cx="4114800" cy="3566160"/>
          </a:xfrm>
          <a:prstGeom prst="roundRect">
            <a:avLst>
              <a:gd name="adj" fmla="val 3077"/>
            </a:avLst>
          </a:prstGeom>
          <a:solidFill>
            <a:srgbClr val="1E2D3D"/>
          </a:solidFill>
          <a:ln w="19050">
            <a:solidFill>
              <a:srgbClr val="028090"/>
            </a:solidFill>
            <a:prstDash val="solid"/>
          </a:ln>
        </p:spPr>
      </p:sp>
      <p:sp>
        <p:nvSpPr>
          <p:cNvPr id="5" name="Text 3"/>
          <p:cNvSpPr/>
          <p:nvPr/>
        </p:nvSpPr>
        <p:spPr>
          <a:xfrm>
            <a:off x="594360" y="1371600"/>
            <a:ext cx="3657600" cy="36576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  Dockerfile</a:t>
            </a:r>
            <a:endParaRPr lang="en-US" sz="1400" dirty="0"/>
          </a:p>
        </p:txBody>
      </p:sp>
      <p:sp>
        <p:nvSpPr>
          <p:cNvPr id="6" name="Text 4"/>
          <p:cNvSpPr/>
          <p:nvPr/>
        </p:nvSpPr>
        <p:spPr>
          <a:xfrm>
            <a:off x="594360" y="1847088"/>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Uses Python 3.11-slim as the base image to minimize footprint</a:t>
            </a:r>
            <a:endParaRPr lang="en-US" sz="1100" dirty="0"/>
          </a:p>
        </p:txBody>
      </p:sp>
      <p:sp>
        <p:nvSpPr>
          <p:cNvPr id="7" name="Text 5"/>
          <p:cNvSpPr/>
          <p:nvPr/>
        </p:nvSpPr>
        <p:spPr>
          <a:xfrm>
            <a:off x="594360" y="2322576"/>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Installs dependencies before copying source code for layer caching</a:t>
            </a:r>
            <a:endParaRPr lang="en-US" sz="1100" dirty="0"/>
          </a:p>
        </p:txBody>
      </p:sp>
      <p:sp>
        <p:nvSpPr>
          <p:cNvPr id="8" name="Text 6"/>
          <p:cNvSpPr/>
          <p:nvPr/>
        </p:nvSpPr>
        <p:spPr>
          <a:xfrm>
            <a:off x="594360" y="2798064"/>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Exposes port 8501 for the Streamlit web interface</a:t>
            </a:r>
            <a:endParaRPr lang="en-US" sz="1100" dirty="0"/>
          </a:p>
        </p:txBody>
      </p:sp>
      <p:sp>
        <p:nvSpPr>
          <p:cNvPr id="9" name="Text 7"/>
          <p:cNvSpPr/>
          <p:nvPr/>
        </p:nvSpPr>
        <p:spPr>
          <a:xfrm>
            <a:off x="594360" y="3273552"/>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Includes a health check via HTTP ping every 30 seconds</a:t>
            </a:r>
            <a:endParaRPr lang="en-US" sz="1100" dirty="0"/>
          </a:p>
        </p:txBody>
      </p:sp>
      <p:sp>
        <p:nvSpPr>
          <p:cNvPr id="10" name="Text 8"/>
          <p:cNvSpPr/>
          <p:nvPr/>
        </p:nvSpPr>
        <p:spPr>
          <a:xfrm>
            <a:off x="594360" y="3749040"/>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Single entrypoint: runs the Streamlit app on container start</a:t>
            </a:r>
            <a:endParaRPr lang="en-US" sz="1100" dirty="0"/>
          </a:p>
        </p:txBody>
      </p:sp>
      <p:sp>
        <p:nvSpPr>
          <p:cNvPr id="11" name="Shape 9"/>
          <p:cNvSpPr/>
          <p:nvPr/>
        </p:nvSpPr>
        <p:spPr>
          <a:xfrm>
            <a:off x="4663440" y="1241213"/>
            <a:ext cx="4114800" cy="3566160"/>
          </a:xfrm>
          <a:prstGeom prst="roundRect">
            <a:avLst>
              <a:gd name="adj" fmla="val 3077"/>
            </a:avLst>
          </a:prstGeom>
          <a:solidFill>
            <a:srgbClr val="1E2D3D"/>
          </a:solidFill>
          <a:ln w="19050">
            <a:solidFill>
              <a:srgbClr val="02C39A"/>
            </a:solidFill>
            <a:prstDash val="solid"/>
          </a:ln>
        </p:spPr>
      </p:sp>
      <p:sp>
        <p:nvSpPr>
          <p:cNvPr id="12" name="Text 10"/>
          <p:cNvSpPr/>
          <p:nvPr/>
        </p:nvSpPr>
        <p:spPr>
          <a:xfrm>
            <a:off x="4892040" y="1371600"/>
            <a:ext cx="3657600" cy="36576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  docker-compose.yml</a:t>
            </a:r>
            <a:endParaRPr lang="en-US" sz="1400" dirty="0"/>
          </a:p>
        </p:txBody>
      </p:sp>
      <p:sp>
        <p:nvSpPr>
          <p:cNvPr id="13" name="Text 11"/>
          <p:cNvSpPr/>
          <p:nvPr/>
        </p:nvSpPr>
        <p:spPr>
          <a:xfrm>
            <a:off x="4892040" y="1847088"/>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Deploys the </a:t>
            </a:r>
            <a:r>
              <a:rPr lang="en-US" sz="1100" dirty="0" err="1">
                <a:solidFill>
                  <a:srgbClr val="C9D9E8"/>
                </a:solidFill>
                <a:latin typeface="Calibri" pitchFamily="34" charset="0"/>
                <a:ea typeface="Calibri" pitchFamily="34" charset="-122"/>
                <a:cs typeface="Calibri" pitchFamily="34" charset="-120"/>
              </a:rPr>
              <a:t>Groq</a:t>
            </a:r>
            <a:r>
              <a:rPr lang="en-US" sz="1100" dirty="0">
                <a:solidFill>
                  <a:srgbClr val="C9D9E8"/>
                </a:solidFill>
                <a:latin typeface="Calibri" pitchFamily="34" charset="0"/>
                <a:ea typeface="Calibri" pitchFamily="34" charset="-122"/>
                <a:cs typeface="Calibri" pitchFamily="34" charset="-120"/>
              </a:rPr>
              <a:t> LLM service on port 11434 alongside the dashboard</a:t>
            </a:r>
            <a:endParaRPr lang="en-US" sz="1100" dirty="0"/>
          </a:p>
        </p:txBody>
      </p:sp>
      <p:sp>
        <p:nvSpPr>
          <p:cNvPr id="14" name="Text 12"/>
          <p:cNvSpPr/>
          <p:nvPr/>
        </p:nvSpPr>
        <p:spPr>
          <a:xfrm>
            <a:off x="4892040" y="2322576"/>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Mounts the Docker socket as read-only for safe container inspection</a:t>
            </a:r>
            <a:endParaRPr lang="en-US" sz="1100" dirty="0"/>
          </a:p>
        </p:txBody>
      </p:sp>
      <p:sp>
        <p:nvSpPr>
          <p:cNvPr id="15" name="Text 13"/>
          <p:cNvSpPr/>
          <p:nvPr/>
        </p:nvSpPr>
        <p:spPr>
          <a:xfrm>
            <a:off x="4892040" y="2798064"/>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Binds database and logs directories so data persists across restarts</a:t>
            </a:r>
            <a:endParaRPr lang="en-US" sz="1100" dirty="0"/>
          </a:p>
        </p:txBody>
      </p:sp>
      <p:sp>
        <p:nvSpPr>
          <p:cNvPr id="16" name="Text 14"/>
          <p:cNvSpPr/>
          <p:nvPr/>
        </p:nvSpPr>
        <p:spPr>
          <a:xfrm>
            <a:off x="4892040" y="3273552"/>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Dashboard waits for </a:t>
            </a:r>
            <a:r>
              <a:rPr lang="en-US" sz="1100" dirty="0" err="1">
                <a:solidFill>
                  <a:srgbClr val="C9D9E8"/>
                </a:solidFill>
                <a:latin typeface="Calibri" pitchFamily="34" charset="0"/>
                <a:ea typeface="Calibri" pitchFamily="34" charset="-122"/>
                <a:cs typeface="Calibri" pitchFamily="34" charset="-120"/>
              </a:rPr>
              <a:t>Groq</a:t>
            </a:r>
            <a:r>
              <a:rPr lang="en-US" sz="1100" dirty="0">
                <a:solidFill>
                  <a:srgbClr val="C9D9E8"/>
                </a:solidFill>
                <a:latin typeface="Calibri" pitchFamily="34" charset="0"/>
                <a:ea typeface="Calibri" pitchFamily="34" charset="-122"/>
                <a:cs typeface="Calibri" pitchFamily="34" charset="-120"/>
              </a:rPr>
              <a:t> to pass its health check before starting</a:t>
            </a:r>
            <a:endParaRPr lang="en-US" sz="1100" dirty="0"/>
          </a:p>
        </p:txBody>
      </p:sp>
      <p:sp>
        <p:nvSpPr>
          <p:cNvPr id="17" name="Text 15"/>
          <p:cNvSpPr/>
          <p:nvPr/>
        </p:nvSpPr>
        <p:spPr>
          <a:xfrm>
            <a:off x="4892040" y="3749040"/>
            <a:ext cx="3657600" cy="411480"/>
          </a:xfrm>
          <a:prstGeom prst="rect">
            <a:avLst/>
          </a:prstGeom>
          <a:noFill/>
          <a:ln/>
        </p:spPr>
        <p:txBody>
          <a:bodyPr wrap="square" rtlCol="0" anchor="ctr"/>
          <a:lstStyle/>
          <a:p>
            <a:pPr marL="0" indent="0">
              <a:buNone/>
            </a:pPr>
            <a:r>
              <a:rPr lang="en-US" sz="1100" dirty="0">
                <a:solidFill>
                  <a:srgbClr val="C9D9E8"/>
                </a:solidFill>
                <a:latin typeface="Calibri" pitchFamily="34" charset="0"/>
                <a:ea typeface="Calibri" pitchFamily="34" charset="-122"/>
                <a:cs typeface="Calibri" pitchFamily="34" charset="-120"/>
              </a:rPr>
              <a:t>• Both services set to restart-unless-stopped for high availability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Testing, GitHub API &amp; Troubleshooting</a:t>
            </a:r>
            <a:endParaRPr lang="en-US" sz="2800" dirty="0"/>
          </a:p>
        </p:txBody>
      </p:sp>
      <p:sp>
        <p:nvSpPr>
          <p:cNvPr id="3" name="Text 1"/>
          <p:cNvSpPr/>
          <p:nvPr/>
        </p:nvSpPr>
        <p:spPr>
          <a:xfrm>
            <a:off x="457200" y="777240"/>
            <a:ext cx="8229600" cy="347472"/>
          </a:xfrm>
          <a:prstGeom prst="rect">
            <a:avLst/>
          </a:prstGeom>
          <a:noFill/>
          <a:ln/>
        </p:spPr>
        <p:txBody>
          <a:bodyPr wrap="square" rtlCol="0" anchor="ctr"/>
          <a:lstStyle/>
          <a:p>
            <a:pPr marL="0" indent="0">
              <a:buNone/>
            </a:pPr>
            <a:r>
              <a:rPr lang="en-US" sz="1350" i="1" dirty="0">
                <a:solidFill>
                  <a:srgbClr val="028090"/>
                </a:solidFill>
                <a:latin typeface="Calibri" pitchFamily="34" charset="0"/>
                <a:ea typeface="Calibri" pitchFamily="34" charset="-122"/>
                <a:cs typeface="Calibri" pitchFamily="34" charset="-120"/>
              </a:rPr>
              <a:t>Automated verification, external integrations, and common error resolutions</a:t>
            </a:r>
            <a:endParaRPr lang="en-US" sz="1350" dirty="0"/>
          </a:p>
        </p:txBody>
      </p:sp>
      <p:sp>
        <p:nvSpPr>
          <p:cNvPr id="4" name="Shape 2"/>
          <p:cNvSpPr/>
          <p:nvPr/>
        </p:nvSpPr>
        <p:spPr>
          <a:xfrm>
            <a:off x="365760" y="1234440"/>
            <a:ext cx="4023360" cy="1920240"/>
          </a:xfrm>
          <a:prstGeom prst="roundRect">
            <a:avLst>
              <a:gd name="adj" fmla="val 5714"/>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sp>
      <p:sp>
        <p:nvSpPr>
          <p:cNvPr id="5" name="Text 3"/>
          <p:cNvSpPr/>
          <p:nvPr/>
        </p:nvSpPr>
        <p:spPr>
          <a:xfrm>
            <a:off x="594360" y="1371600"/>
            <a:ext cx="365760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Automated Testing</a:t>
            </a:r>
            <a:endParaRPr lang="en-US" sz="1250" dirty="0"/>
          </a:p>
        </p:txBody>
      </p:sp>
      <p:sp>
        <p:nvSpPr>
          <p:cNvPr id="6" name="Text 4"/>
          <p:cNvSpPr/>
          <p:nvPr/>
        </p:nvSpPr>
        <p:spPr>
          <a:xfrm>
            <a:off x="594360" y="1828800"/>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Spins up nginx, redis, and mysql test containers automatically</a:t>
            </a:r>
            <a:endParaRPr lang="en-US" sz="1100" dirty="0"/>
          </a:p>
        </p:txBody>
      </p:sp>
      <p:sp>
        <p:nvSpPr>
          <p:cNvPr id="7" name="Text 5"/>
          <p:cNvSpPr/>
          <p:nvPr/>
        </p:nvSpPr>
        <p:spPr>
          <a:xfrm>
            <a:off x="594360" y="2167128"/>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Simulates a sequence of natural language command prompts</a:t>
            </a:r>
            <a:endParaRPr lang="en-US" sz="1100" dirty="0"/>
          </a:p>
        </p:txBody>
      </p:sp>
      <p:sp>
        <p:nvSpPr>
          <p:cNvPr id="8" name="Text 6"/>
          <p:cNvSpPr/>
          <p:nvPr/>
        </p:nvSpPr>
        <p:spPr>
          <a:xfrm>
            <a:off x="594360" y="2505456"/>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Asserts that reasoning outputs contain all expected action keys</a:t>
            </a:r>
            <a:endParaRPr lang="en-US" sz="1100" dirty="0"/>
          </a:p>
        </p:txBody>
      </p:sp>
      <p:sp>
        <p:nvSpPr>
          <p:cNvPr id="9" name="Text 7"/>
          <p:cNvSpPr/>
          <p:nvPr/>
        </p:nvSpPr>
        <p:spPr>
          <a:xfrm>
            <a:off x="594360" y="2843784"/>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Tears down all test containers after verification is complete</a:t>
            </a:r>
            <a:endParaRPr lang="en-US" sz="1100" dirty="0"/>
          </a:p>
        </p:txBody>
      </p:sp>
      <p:sp>
        <p:nvSpPr>
          <p:cNvPr id="10" name="Shape 8"/>
          <p:cNvSpPr/>
          <p:nvPr/>
        </p:nvSpPr>
        <p:spPr>
          <a:xfrm>
            <a:off x="4663440" y="1234440"/>
            <a:ext cx="4023360" cy="1920240"/>
          </a:xfrm>
          <a:prstGeom prst="roundRect">
            <a:avLst>
              <a:gd name="adj" fmla="val 5714"/>
            </a:avLst>
          </a:prstGeom>
          <a:solidFill>
            <a:srgbClr val="FFFFFF"/>
          </a:solidFill>
          <a:ln w="12700">
            <a:solidFill>
              <a:srgbClr val="D6E8F0"/>
            </a:solidFill>
            <a:prstDash val="solid"/>
          </a:ln>
          <a:effectLst>
            <a:outerShdw blurRad="101600" dist="38100" dir="2700000" algn="bl" rotWithShape="0">
              <a:srgbClr val="000000">
                <a:alpha val="13000"/>
              </a:srgbClr>
            </a:outerShdw>
          </a:effectLst>
        </p:spPr>
        <p:txBody>
          <a:bodyPr/>
          <a:lstStyle/>
          <a:p>
            <a:endParaRPr lang="en-IN" dirty="0"/>
          </a:p>
        </p:txBody>
      </p:sp>
      <p:sp>
        <p:nvSpPr>
          <p:cNvPr id="11" name="Text 9"/>
          <p:cNvSpPr/>
          <p:nvPr/>
        </p:nvSpPr>
        <p:spPr>
          <a:xfrm>
            <a:off x="4892040" y="1371600"/>
            <a:ext cx="3657600" cy="365760"/>
          </a:xfrm>
          <a:prstGeom prst="rect">
            <a:avLst/>
          </a:prstGeom>
          <a:noFill/>
          <a:ln/>
        </p:spPr>
        <p:txBody>
          <a:bodyPr wrap="square"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  GitHub API Integration</a:t>
            </a:r>
            <a:endParaRPr lang="en-US" sz="1250" dirty="0"/>
          </a:p>
        </p:txBody>
      </p:sp>
      <p:sp>
        <p:nvSpPr>
          <p:cNvPr id="12" name="Text 10"/>
          <p:cNvSpPr/>
          <p:nvPr/>
        </p:nvSpPr>
        <p:spPr>
          <a:xfrm>
            <a:off x="4892040" y="1828800"/>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Connects to status.github.com for real-time API health</a:t>
            </a:r>
            <a:endParaRPr lang="en-US" sz="1100" dirty="0"/>
          </a:p>
        </p:txBody>
      </p:sp>
      <p:sp>
        <p:nvSpPr>
          <p:cNvPr id="13" name="Text 11"/>
          <p:cNvSpPr/>
          <p:nvPr/>
        </p:nvSpPr>
        <p:spPr>
          <a:xfrm>
            <a:off x="4892040" y="2167128"/>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Displays green, yellow, or red status cards accordingly</a:t>
            </a:r>
            <a:endParaRPr lang="en-US" sz="1100" dirty="0"/>
          </a:p>
        </p:txBody>
      </p:sp>
      <p:sp>
        <p:nvSpPr>
          <p:cNvPr id="14" name="Text 12"/>
          <p:cNvSpPr/>
          <p:nvPr/>
        </p:nvSpPr>
        <p:spPr>
          <a:xfrm>
            <a:off x="4892040" y="2505456"/>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Shows remaining API rate limit (60 unauthenticated requests/hr)</a:t>
            </a:r>
            <a:endParaRPr lang="en-US" sz="1100" dirty="0"/>
          </a:p>
        </p:txBody>
      </p:sp>
      <p:sp>
        <p:nvSpPr>
          <p:cNvPr id="15" name="Text 13"/>
          <p:cNvSpPr/>
          <p:nvPr/>
        </p:nvSpPr>
        <p:spPr>
          <a:xfrm>
            <a:off x="4892040" y="2843784"/>
            <a:ext cx="3657600" cy="292608"/>
          </a:xfrm>
          <a:prstGeom prst="rect">
            <a:avLst/>
          </a:prstGeom>
          <a:noFill/>
          <a:ln/>
        </p:spPr>
        <p:txBody>
          <a:bodyPr wrap="square" rtlCol="0" anchor="ctr"/>
          <a:lstStyle/>
          <a:p>
            <a:pPr marL="0" indent="0">
              <a:buNone/>
            </a:pPr>
            <a:r>
              <a:rPr lang="en-US" sz="1100" dirty="0">
                <a:solidFill>
                  <a:srgbClr val="4A6080"/>
                </a:solidFill>
                <a:latin typeface="Calibri" pitchFamily="34" charset="0"/>
                <a:ea typeface="Calibri" pitchFamily="34" charset="-122"/>
                <a:cs typeface="Calibri" pitchFamily="34" charset="-120"/>
              </a:rPr>
              <a:t>• 5-second timeout to keep the UI responsive</a:t>
            </a:r>
            <a:endParaRPr lang="en-US" sz="1100" dirty="0"/>
          </a:p>
        </p:txBody>
      </p:sp>
      <p:sp>
        <p:nvSpPr>
          <p:cNvPr id="16" name="Text 14"/>
          <p:cNvSpPr/>
          <p:nvPr/>
        </p:nvSpPr>
        <p:spPr>
          <a:xfrm>
            <a:off x="4892040" y="3182112"/>
            <a:ext cx="3657600" cy="292608"/>
          </a:xfrm>
          <a:prstGeom prst="rect">
            <a:avLst/>
          </a:prstGeom>
          <a:noFill/>
          <a:ln/>
        </p:spPr>
        <p:txBody>
          <a:bodyPr wrap="square" rtlCol="0" anchor="ctr"/>
          <a:lstStyle/>
          <a:p>
            <a:pPr marL="0" indent="0">
              <a:buNone/>
            </a:pPr>
            <a:endParaRPr lang="en-US" sz="1100" dirty="0"/>
          </a:p>
        </p:txBody>
      </p:sp>
      <p:sp>
        <p:nvSpPr>
          <p:cNvPr id="17" name="Shape 15"/>
          <p:cNvSpPr/>
          <p:nvPr/>
        </p:nvSpPr>
        <p:spPr>
          <a:xfrm>
            <a:off x="365760" y="3296582"/>
            <a:ext cx="8412480" cy="1508760"/>
          </a:xfrm>
          <a:prstGeom prst="roundRect">
            <a:avLst>
              <a:gd name="adj" fmla="val 7273"/>
            </a:avLst>
          </a:prstGeom>
          <a:solidFill>
            <a:srgbClr val="FFF3E0"/>
          </a:solidFill>
          <a:ln w="12700">
            <a:solidFill>
              <a:srgbClr val="F4A261"/>
            </a:solidFill>
            <a:prstDash val="solid"/>
          </a:ln>
          <a:effectLst>
            <a:outerShdw blurRad="101600" dist="38100" dir="2700000" algn="bl" rotWithShape="0">
              <a:srgbClr val="000000">
                <a:alpha val="13000"/>
              </a:srgbClr>
            </a:outerShdw>
          </a:effectLst>
        </p:spPr>
      </p:sp>
      <p:sp>
        <p:nvSpPr>
          <p:cNvPr id="18" name="Text 16"/>
          <p:cNvSpPr/>
          <p:nvPr/>
        </p:nvSpPr>
        <p:spPr>
          <a:xfrm>
            <a:off x="594360" y="3419856"/>
            <a:ext cx="8229600" cy="347472"/>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  Common Issues &amp; Resolutions</a:t>
            </a:r>
            <a:endParaRPr lang="en-US" sz="1300" dirty="0"/>
          </a:p>
        </p:txBody>
      </p:sp>
      <p:sp>
        <p:nvSpPr>
          <p:cNvPr id="19" name="Text 17"/>
          <p:cNvSpPr/>
          <p:nvPr/>
        </p:nvSpPr>
        <p:spPr>
          <a:xfrm>
            <a:off x="594360" y="3785616"/>
            <a:ext cx="8229600" cy="914400"/>
          </a:xfrm>
          <a:prstGeom prst="rect">
            <a:avLst/>
          </a:prstGeom>
          <a:noFill/>
          <a:ln/>
        </p:spPr>
        <p:txBody>
          <a:bodyPr wrap="square" rtlCol="0" anchor="ctr"/>
          <a:lstStyle/>
          <a:p>
            <a:pPr marL="0" indent="0">
              <a:buNone/>
            </a:pPr>
            <a:r>
              <a:rPr lang="en-US" sz="1150" b="1" dirty="0">
                <a:solidFill>
                  <a:srgbClr val="B85042"/>
                </a:solidFill>
                <a:latin typeface="Calibri" pitchFamily="34" charset="0"/>
                <a:ea typeface="Calibri" pitchFamily="34" charset="-122"/>
                <a:cs typeface="Calibri" pitchFamily="34" charset="-120"/>
              </a:rPr>
              <a:t>Docker socket error: </a:t>
            </a:r>
            <a:r>
              <a:rPr lang="en-US" sz="1150" dirty="0">
                <a:solidFill>
                  <a:srgbClr val="1B2A4A"/>
                </a:solidFill>
                <a:latin typeface="Calibri" pitchFamily="34" charset="0"/>
                <a:ea typeface="Calibri" pitchFamily="34" charset="-122"/>
                <a:cs typeface="Calibri" pitchFamily="34" charset="-120"/>
              </a:rPr>
              <a:t>Add the current user to the docker group on Linux, or verify Docker Desktop is running on Windows.    </a:t>
            </a:r>
          </a:p>
          <a:p>
            <a:pPr marL="0" indent="0">
              <a:buNone/>
            </a:pPr>
            <a:r>
              <a:rPr lang="en-US" sz="1150" dirty="0">
                <a:solidFill>
                  <a:srgbClr val="1B2A4A"/>
                </a:solidFill>
                <a:latin typeface="Calibri" pitchFamily="34" charset="0"/>
                <a:ea typeface="Calibri" pitchFamily="34" charset="-122"/>
                <a:cs typeface="Calibri" pitchFamily="34" charset="-120"/>
              </a:rPr>
              <a:t> </a:t>
            </a:r>
            <a:r>
              <a:rPr lang="en-US" sz="1150" b="1" dirty="0">
                <a:solidFill>
                  <a:srgbClr val="B85042"/>
                </a:solidFill>
                <a:latin typeface="Calibri" pitchFamily="34" charset="0"/>
                <a:ea typeface="Calibri" pitchFamily="34" charset="-122"/>
                <a:cs typeface="Calibri" pitchFamily="34" charset="-120"/>
              </a:rPr>
              <a:t>LLM timeout / JSON parse failure: </a:t>
            </a:r>
            <a:r>
              <a:rPr lang="en-US" sz="1150" dirty="0">
                <a:solidFill>
                  <a:srgbClr val="1B2A4A"/>
                </a:solidFill>
                <a:latin typeface="Calibri" pitchFamily="34" charset="0"/>
                <a:ea typeface="Calibri" pitchFamily="34" charset="-122"/>
                <a:cs typeface="Calibri" pitchFamily="34" charset="-120"/>
              </a:rPr>
              <a:t>Set the Groq API key in the Settings page, or start </a:t>
            </a:r>
            <a:r>
              <a:rPr lang="en-US" sz="1150" dirty="0" err="1">
                <a:solidFill>
                  <a:srgbClr val="1B2A4A"/>
                </a:solidFill>
                <a:latin typeface="Calibri" pitchFamily="34" charset="0"/>
                <a:ea typeface="Calibri" pitchFamily="34" charset="-122"/>
                <a:cs typeface="Calibri" pitchFamily="34" charset="-120"/>
              </a:rPr>
              <a:t>Groq</a:t>
            </a:r>
            <a:r>
              <a:rPr lang="en-US" sz="1150" dirty="0">
                <a:solidFill>
                  <a:srgbClr val="1B2A4A"/>
                </a:solidFill>
                <a:latin typeface="Calibri" pitchFamily="34" charset="0"/>
                <a:ea typeface="Calibri" pitchFamily="34" charset="-122"/>
                <a:cs typeface="Calibri" pitchFamily="34" charset="-120"/>
              </a:rPr>
              <a:t> locally and pull the required model.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Future Scope &amp; Conclusion</a:t>
            </a:r>
            <a:endParaRPr lang="en-US" sz="3200" dirty="0"/>
          </a:p>
        </p:txBody>
      </p:sp>
      <p:sp>
        <p:nvSpPr>
          <p:cNvPr id="3" name="Shape 1"/>
          <p:cNvSpPr/>
          <p:nvPr/>
        </p:nvSpPr>
        <p:spPr>
          <a:xfrm>
            <a:off x="365760" y="1005840"/>
            <a:ext cx="4023360" cy="960120"/>
          </a:xfrm>
          <a:prstGeom prst="roundRect">
            <a:avLst>
              <a:gd name="adj" fmla="val 9524"/>
            </a:avLst>
          </a:prstGeom>
          <a:solidFill>
            <a:srgbClr val="028090">
              <a:alpha val="25000"/>
            </a:srgbClr>
          </a:solidFill>
          <a:ln w="19050">
            <a:solidFill>
              <a:srgbClr val="02C39A"/>
            </a:solidFill>
            <a:prstDash val="solid"/>
          </a:ln>
        </p:spPr>
      </p:sp>
      <p:sp>
        <p:nvSpPr>
          <p:cNvPr id="4" name="Text 2"/>
          <p:cNvSpPr/>
          <p:nvPr/>
        </p:nvSpPr>
        <p:spPr>
          <a:xfrm>
            <a:off x="548640" y="1097280"/>
            <a:ext cx="3657600" cy="347472"/>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Multi-Host Management</a:t>
            </a:r>
            <a:endParaRPr lang="en-US" sz="1300" dirty="0"/>
          </a:p>
        </p:txBody>
      </p:sp>
      <p:sp>
        <p:nvSpPr>
          <p:cNvPr id="5" name="Text 3"/>
          <p:cNvSpPr/>
          <p:nvPr/>
        </p:nvSpPr>
        <p:spPr>
          <a:xfrm>
            <a:off x="548640" y="1463040"/>
            <a:ext cx="3657600" cy="411480"/>
          </a:xfrm>
          <a:prstGeom prst="rect">
            <a:avLst/>
          </a:prstGeom>
          <a:noFill/>
          <a:ln/>
        </p:spPr>
        <p:txBody>
          <a:bodyPr wrap="square" rtlCol="0" anchor="ctr"/>
          <a:lstStyle/>
          <a:p>
            <a:pPr marL="0" indent="0">
              <a:buNone/>
            </a:pPr>
            <a:r>
              <a:rPr lang="en-US" sz="1100" dirty="0">
                <a:solidFill>
                  <a:srgbClr val="D6E8F0"/>
                </a:solidFill>
                <a:latin typeface="Calibri" pitchFamily="34" charset="0"/>
                <a:ea typeface="Calibri" pitchFamily="34" charset="-122"/>
                <a:cs typeface="Calibri" pitchFamily="34" charset="-120"/>
              </a:rPr>
              <a:t>Support managing remote Docker hosts from a single dashboard.</a:t>
            </a:r>
            <a:endParaRPr lang="en-US" sz="1100" dirty="0"/>
          </a:p>
        </p:txBody>
      </p:sp>
      <p:sp>
        <p:nvSpPr>
          <p:cNvPr id="6" name="Shape 4"/>
          <p:cNvSpPr/>
          <p:nvPr/>
        </p:nvSpPr>
        <p:spPr>
          <a:xfrm>
            <a:off x="4754880" y="1005840"/>
            <a:ext cx="4023360" cy="960120"/>
          </a:xfrm>
          <a:prstGeom prst="roundRect">
            <a:avLst>
              <a:gd name="adj" fmla="val 9524"/>
            </a:avLst>
          </a:prstGeom>
          <a:solidFill>
            <a:srgbClr val="028090">
              <a:alpha val="25000"/>
            </a:srgbClr>
          </a:solidFill>
          <a:ln w="19050">
            <a:solidFill>
              <a:srgbClr val="02C39A"/>
            </a:solidFill>
            <a:prstDash val="solid"/>
          </a:ln>
        </p:spPr>
      </p:sp>
      <p:sp>
        <p:nvSpPr>
          <p:cNvPr id="7" name="Text 5"/>
          <p:cNvSpPr/>
          <p:nvPr/>
        </p:nvSpPr>
        <p:spPr>
          <a:xfrm>
            <a:off x="4937760" y="1097280"/>
            <a:ext cx="3657600" cy="347472"/>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Docker Compose Actions</a:t>
            </a:r>
            <a:endParaRPr lang="en-US" sz="1300" dirty="0"/>
          </a:p>
        </p:txBody>
      </p:sp>
      <p:sp>
        <p:nvSpPr>
          <p:cNvPr id="8" name="Text 6"/>
          <p:cNvSpPr/>
          <p:nvPr/>
        </p:nvSpPr>
        <p:spPr>
          <a:xfrm>
            <a:off x="4937760" y="1463040"/>
            <a:ext cx="3657600" cy="411480"/>
          </a:xfrm>
          <a:prstGeom prst="rect">
            <a:avLst/>
          </a:prstGeom>
          <a:noFill/>
          <a:ln/>
        </p:spPr>
        <p:txBody>
          <a:bodyPr wrap="square" rtlCol="0" anchor="ctr"/>
          <a:lstStyle/>
          <a:p>
            <a:pPr marL="0" indent="0">
              <a:buNone/>
            </a:pPr>
            <a:r>
              <a:rPr lang="en-US" sz="1100" dirty="0">
                <a:solidFill>
                  <a:srgbClr val="D6E8F0"/>
                </a:solidFill>
                <a:latin typeface="Calibri" pitchFamily="34" charset="0"/>
                <a:ea typeface="Calibri" pitchFamily="34" charset="-122"/>
                <a:cs typeface="Calibri" pitchFamily="34" charset="-120"/>
              </a:rPr>
              <a:t>Add prompt rules to parse and launch compose environments.</a:t>
            </a:r>
            <a:endParaRPr lang="en-US" sz="1100" dirty="0"/>
          </a:p>
        </p:txBody>
      </p:sp>
      <p:sp>
        <p:nvSpPr>
          <p:cNvPr id="9" name="Shape 7"/>
          <p:cNvSpPr/>
          <p:nvPr/>
        </p:nvSpPr>
        <p:spPr>
          <a:xfrm>
            <a:off x="365760" y="2103120"/>
            <a:ext cx="4023360" cy="960120"/>
          </a:xfrm>
          <a:prstGeom prst="roundRect">
            <a:avLst>
              <a:gd name="adj" fmla="val 9524"/>
            </a:avLst>
          </a:prstGeom>
          <a:solidFill>
            <a:srgbClr val="028090">
              <a:alpha val="25000"/>
            </a:srgbClr>
          </a:solidFill>
          <a:ln w="19050">
            <a:solidFill>
              <a:srgbClr val="02C39A"/>
            </a:solidFill>
            <a:prstDash val="solid"/>
          </a:ln>
        </p:spPr>
      </p:sp>
      <p:sp>
        <p:nvSpPr>
          <p:cNvPr id="10" name="Text 8"/>
          <p:cNvSpPr/>
          <p:nvPr/>
        </p:nvSpPr>
        <p:spPr>
          <a:xfrm>
            <a:off x="548640" y="2194560"/>
            <a:ext cx="3657600" cy="347472"/>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Real-Time Sockets</a:t>
            </a:r>
            <a:endParaRPr lang="en-US" sz="1300" dirty="0"/>
          </a:p>
        </p:txBody>
      </p:sp>
      <p:sp>
        <p:nvSpPr>
          <p:cNvPr id="11" name="Text 9"/>
          <p:cNvSpPr/>
          <p:nvPr/>
        </p:nvSpPr>
        <p:spPr>
          <a:xfrm>
            <a:off x="548640" y="2560320"/>
            <a:ext cx="3657600" cy="411480"/>
          </a:xfrm>
          <a:prstGeom prst="rect">
            <a:avLst/>
          </a:prstGeom>
          <a:noFill/>
          <a:ln/>
        </p:spPr>
        <p:txBody>
          <a:bodyPr wrap="square" rtlCol="0" anchor="ctr"/>
          <a:lstStyle/>
          <a:p>
            <a:pPr marL="0" indent="0">
              <a:buNone/>
            </a:pPr>
            <a:r>
              <a:rPr lang="en-US" sz="1100" dirty="0">
                <a:solidFill>
                  <a:srgbClr val="D6E8F0"/>
                </a:solidFill>
                <a:latin typeface="Calibri" pitchFamily="34" charset="0"/>
                <a:ea typeface="Calibri" pitchFamily="34" charset="-122"/>
                <a:cs typeface="Calibri" pitchFamily="34" charset="-120"/>
              </a:rPr>
              <a:t>Integrate WebSockets for live container status updates.</a:t>
            </a:r>
            <a:endParaRPr lang="en-US" sz="1100" dirty="0"/>
          </a:p>
        </p:txBody>
      </p:sp>
      <p:sp>
        <p:nvSpPr>
          <p:cNvPr id="12" name="Shape 10"/>
          <p:cNvSpPr/>
          <p:nvPr/>
        </p:nvSpPr>
        <p:spPr>
          <a:xfrm>
            <a:off x="4754880" y="2103120"/>
            <a:ext cx="4023360" cy="960120"/>
          </a:xfrm>
          <a:prstGeom prst="roundRect">
            <a:avLst>
              <a:gd name="adj" fmla="val 9524"/>
            </a:avLst>
          </a:prstGeom>
          <a:solidFill>
            <a:srgbClr val="028090">
              <a:alpha val="25000"/>
            </a:srgbClr>
          </a:solidFill>
          <a:ln w="19050">
            <a:solidFill>
              <a:srgbClr val="02C39A"/>
            </a:solidFill>
            <a:prstDash val="solid"/>
          </a:ln>
        </p:spPr>
      </p:sp>
      <p:sp>
        <p:nvSpPr>
          <p:cNvPr id="13" name="Text 11"/>
          <p:cNvSpPr/>
          <p:nvPr/>
        </p:nvSpPr>
        <p:spPr>
          <a:xfrm>
            <a:off x="4937760" y="2194560"/>
            <a:ext cx="3657600" cy="347472"/>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Swarm &amp; Kubernetes</a:t>
            </a:r>
            <a:endParaRPr lang="en-US" sz="1300" dirty="0"/>
          </a:p>
        </p:txBody>
      </p:sp>
      <p:sp>
        <p:nvSpPr>
          <p:cNvPr id="14" name="Text 12"/>
          <p:cNvSpPr/>
          <p:nvPr/>
        </p:nvSpPr>
        <p:spPr>
          <a:xfrm>
            <a:off x="4937760" y="2560320"/>
            <a:ext cx="3657600" cy="411480"/>
          </a:xfrm>
          <a:prstGeom prst="rect">
            <a:avLst/>
          </a:prstGeom>
          <a:noFill/>
          <a:ln/>
        </p:spPr>
        <p:txBody>
          <a:bodyPr wrap="square" rtlCol="0" anchor="ctr"/>
          <a:lstStyle/>
          <a:p>
            <a:pPr marL="0" indent="0">
              <a:buNone/>
            </a:pPr>
            <a:r>
              <a:rPr lang="en-US" sz="1100" dirty="0">
                <a:solidFill>
                  <a:srgbClr val="D6E8F0"/>
                </a:solidFill>
                <a:latin typeface="Calibri" pitchFamily="34" charset="0"/>
                <a:ea typeface="Calibri" pitchFamily="34" charset="-122"/>
                <a:cs typeface="Calibri" pitchFamily="34" charset="-120"/>
              </a:rPr>
              <a:t>Expand prompt rules to map full cluster configurations.</a:t>
            </a:r>
            <a:endParaRPr lang="en-US" sz="1100" dirty="0"/>
          </a:p>
        </p:txBody>
      </p:sp>
      <p:sp>
        <p:nvSpPr>
          <p:cNvPr id="15" name="Shape 13"/>
          <p:cNvSpPr/>
          <p:nvPr/>
        </p:nvSpPr>
        <p:spPr>
          <a:xfrm>
            <a:off x="457200" y="3383280"/>
            <a:ext cx="8229600" cy="1508760"/>
          </a:xfrm>
          <a:prstGeom prst="roundRect">
            <a:avLst>
              <a:gd name="adj" fmla="val 7273"/>
            </a:avLst>
          </a:prstGeom>
          <a:solidFill>
            <a:srgbClr val="02C39A">
              <a:alpha val="15000"/>
            </a:srgbClr>
          </a:solidFill>
          <a:ln w="25400">
            <a:solidFill>
              <a:srgbClr val="02C39A"/>
            </a:solidFill>
            <a:prstDash val="solid"/>
          </a:ln>
        </p:spPr>
      </p:sp>
      <p:sp>
        <p:nvSpPr>
          <p:cNvPr id="16" name="Text 14"/>
          <p:cNvSpPr/>
          <p:nvPr/>
        </p:nvSpPr>
        <p:spPr>
          <a:xfrm>
            <a:off x="731520" y="3493008"/>
            <a:ext cx="7772400" cy="347472"/>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Key Takeaway</a:t>
            </a:r>
            <a:endParaRPr lang="en-US" sz="1400" dirty="0"/>
          </a:p>
        </p:txBody>
      </p:sp>
      <p:sp>
        <p:nvSpPr>
          <p:cNvPr id="17" name="Text 15"/>
          <p:cNvSpPr/>
          <p:nvPr/>
        </p:nvSpPr>
        <p:spPr>
          <a:xfrm>
            <a:off x="731520" y="3840480"/>
            <a:ext cx="7772400" cy="960120"/>
          </a:xfrm>
          <a:prstGeom prst="rect">
            <a:avLst/>
          </a:prstGeom>
          <a:noFill/>
          <a:ln/>
        </p:spPr>
        <p:txBody>
          <a:bodyPr wrap="square" rtlCol="0" anchor="ctr"/>
          <a:lstStyle/>
          <a:p>
            <a:pPr marL="0" indent="0">
              <a:buNone/>
            </a:pPr>
            <a:r>
              <a:rPr lang="en-US" sz="1200" dirty="0">
                <a:solidFill>
                  <a:srgbClr val="D6E8F0"/>
                </a:solidFill>
                <a:latin typeface="Calibri" pitchFamily="34" charset="0"/>
                <a:ea typeface="Calibri" pitchFamily="34" charset="-122"/>
                <a:cs typeface="Calibri" pitchFamily="34" charset="-120"/>
              </a:rPr>
              <a:t>The AI Docker NL Dashboard maps complex system configurations to plain English commands without compromising safety or auditing. By combining localized AI prompts, robust SDK overrides, transactional DB records, and Plotly analytics, it provides a production-grade blueprint for modern AI-integrated utility platforms.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1255</TotalTime>
  <Words>1769</Words>
  <Application>Microsoft Office PowerPoint</Application>
  <PresentationFormat>On-screen Show (16:9)</PresentationFormat>
  <Paragraphs>215</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Docker NL Health Dashboard</dc:title>
  <dc:subject>PptxGenJS Presentation</dc:subject>
  <dc:creator>PptxGenJS</dc:creator>
  <cp:lastModifiedBy>Karthick  S A RTC2025BAM144</cp:lastModifiedBy>
  <cp:revision>6</cp:revision>
  <dcterms:created xsi:type="dcterms:W3CDTF">2026-06-14T08:37:59Z</dcterms:created>
  <dcterms:modified xsi:type="dcterms:W3CDTF">2026-06-15T12:22:52Z</dcterms:modified>
</cp:coreProperties>
</file>